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43a6b6ca52407e" /><Relationship Type="http://schemas.openxmlformats.org/officeDocument/2006/relationships/extended-properties" Target="/docProps/app.xml" Id="Rf27d452e979f4515" /><Relationship Type="http://schemas.openxmlformats.org/officeDocument/2006/relationships/officeDocument" Target="/ppt/presentation.xml" Id="R0e5b365eebc547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feb940d1724b78"/>
  </p:sldMasterIdLst>
  <p:notesMasterIdLst>
    <p:notesMasterId xmlns:r="http://schemas.openxmlformats.org/officeDocument/2006/relationships" r:id="R31783f571fef4746"/>
  </p:notesMasterIdLst>
  <p:sldIdLst>
    <p:sldId xmlns:r="http://schemas.openxmlformats.org/officeDocument/2006/relationships" id="256" r:id="R2f73ecb3b6eb449c"/>
    <p:sldId xmlns:r="http://schemas.openxmlformats.org/officeDocument/2006/relationships" id="257" r:id="Rf5c3849715cb4a2e"/>
    <p:sldId xmlns:r="http://schemas.openxmlformats.org/officeDocument/2006/relationships" id="258" r:id="Rb53788151f4d4d22"/>
    <p:sldId xmlns:r="http://schemas.openxmlformats.org/officeDocument/2006/relationships" id="259" r:id="Rb3dbd6d53d3d48be"/>
    <p:sldId xmlns:r="http://schemas.openxmlformats.org/officeDocument/2006/relationships" id="260" r:id="Rf22d0b08d1b743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feb940d1724b78" /><Relationship Type="http://schemas.openxmlformats.org/officeDocument/2006/relationships/theme" Target="/ppt/theme/theme1.xml" Id="R9f53419a4a2948fa" /><Relationship Type="http://schemas.openxmlformats.org/officeDocument/2006/relationships/notesMaster" Target="/ppt/notesMasters/notesMaster1.xml" Id="R31783f571fef4746" /><Relationship Type="http://schemas.openxmlformats.org/officeDocument/2006/relationships/presProps" Target="/ppt/presProps.xml" Id="Rae6173b062a646b7" /><Relationship Type="http://schemas.openxmlformats.org/officeDocument/2006/relationships/viewProps" Target="/ppt/viewProps.xml" Id="R4a32a9402db54ec5" /><Relationship Type="http://schemas.openxmlformats.org/officeDocument/2006/relationships/tableStyles" Target="/ppt/tableStyles.xml" Id="R495e4b454ec04f5a" /><Relationship Type="http://schemas.openxmlformats.org/officeDocument/2006/relationships/slide" Target="/ppt/slides/slide1.xml" Id="R2f73ecb3b6eb449c" /><Relationship Type="http://schemas.openxmlformats.org/officeDocument/2006/relationships/slide" Target="/ppt/slides/slide2.xml" Id="Rf5c3849715cb4a2e" /><Relationship Type="http://schemas.openxmlformats.org/officeDocument/2006/relationships/slide" Target="/ppt/slides/slide3.xml" Id="Rb53788151f4d4d22" /><Relationship Type="http://schemas.openxmlformats.org/officeDocument/2006/relationships/slide" Target="/ppt/slides/slide4.xml" Id="Rb3dbd6d53d3d48be" /><Relationship Type="http://schemas.openxmlformats.org/officeDocument/2006/relationships/slide" Target="/ppt/slides/slide5.xml" Id="Rf22d0b08d1b743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00cefdf47c741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3a075950f940ee" /><Relationship Type="http://schemas.openxmlformats.org/officeDocument/2006/relationships/notesMaster" Target="/ppt/notesMasters/notesMaster1.xml" Id="R587ce2e6f0b94f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a4693b92e74def" /><Relationship Type="http://schemas.openxmlformats.org/officeDocument/2006/relationships/notesMaster" Target="/ppt/notesMasters/notesMaster1.xml" Id="R99d83413e7cb45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d31af9591447e6" /><Relationship Type="http://schemas.openxmlformats.org/officeDocument/2006/relationships/notesMaster" Target="/ppt/notesMasters/notesMaster1.xml" Id="R154cb3899a2c41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bc961ac1a2481d" /><Relationship Type="http://schemas.openxmlformats.org/officeDocument/2006/relationships/notesMaster" Target="/ppt/notesMasters/notesMaster1.xml" Id="R2e17cf6c904e45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79448293ae428f" /><Relationship Type="http://schemas.openxmlformats.org/officeDocument/2006/relationships/notesMaster" Target="/ppt/notesMasters/notesMaster1.xml" Id="R90126a9dc67b40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5c007d2c5f411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e4abcfc4e2547c2" /><Relationship Type="http://schemas.openxmlformats.org/officeDocument/2006/relationships/slideLayout" Target="/ppt/slideLayouts/slideLayout2.xml" Id="Rabd42b9dd4b14a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d42b9dd4b14a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bddc8144c8488d" /><Relationship Type="http://schemas.openxmlformats.org/officeDocument/2006/relationships/image" Target="/ppt/media/image.png" Id="Reafee908ca8e43dd" /><Relationship Type="http://schemas.openxmlformats.org/officeDocument/2006/relationships/notesSlide" Target="/ppt/notesSlides/notesSlide1.xml" Id="R5ebb10a3fb814a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2c8193dfcc4ff5" /><Relationship Type="http://schemas.openxmlformats.org/officeDocument/2006/relationships/notesSlide" Target="/ppt/notesSlides/notesSlide2.xml" Id="R797120a966d640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ca2c47ad0d4f56" /><Relationship Type="http://schemas.openxmlformats.org/officeDocument/2006/relationships/notesSlide" Target="/ppt/notesSlides/notesSlide3.xml" Id="R6bf579011b124b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8ac42d438b4763" /><Relationship Type="http://schemas.openxmlformats.org/officeDocument/2006/relationships/notesSlide" Target="/ppt/notesSlides/notesSlide4.xml" Id="R49ca963d675a4d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65d02b99894c63" /><Relationship Type="http://schemas.openxmlformats.org/officeDocument/2006/relationships/notesSlide" Target="/ppt/notesSlides/notesSlide5.xml" Id="Rf6a0138517ea47f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069C65-1C00-4C3F-BBFF-3B860B76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17211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B38C7-CE17-4C38-82A6-2A9136D9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429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4A7E">
              <a:alpha val="16863"/>
            </a:srgbClr>
          </a:solidFill>
          <a:ln xmlns:a="http://schemas.openxmlformats.org/drawingml/2006/main" w="0">
            <a:solidFill>
              <a:srgbClr val="D44A7E">
                <a:alpha val="16863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E1EAD-EAF9-4DFF-A531-C039ACA2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2476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D59">
              <a:alpha val="20000"/>
            </a:srgbClr>
          </a:solidFill>
          <a:ln xmlns:a="http://schemas.openxmlformats.org/drawingml/2006/main" w="0">
            <a:solidFill>
              <a:srgbClr val="2C6D59">
                <a:alpha val="2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329F3-6F22-404A-AA32-D47A6F35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9EE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9EEE9"/>
                </a:solidFill>
                <a:latin typeface="Aptos"/>
                <a:ea typeface="Aptos"/>
                <a:cs typeface="Aptos"/>
              </a:rPr>
              <a:t>PINK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D699C-0583-4BA6-8497-B7A6A96C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514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Pink Ward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ACEDF-1992-4C0F-8E5E-F3332CFB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0D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7E0DA"/>
                </a:solidFill>
                <a:latin typeface="Aptos"/>
                <a:ea typeface="Aptos"/>
                <a:cs typeface="Aptos"/>
              </a:rPr>
              <a:t>Feature map and terminology guide for the desktop workspace shell.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FD135-2961-40ED-B60A-2E4961E3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95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BBC5C0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BBC5C0"/>
                </a:solidFill>
                <a:latin typeface="Aptos"/>
                <a:ea typeface="Aptos"/>
                <a:cs typeface="Aptos"/>
              </a:rPr>
              <a:t>This deck translates the app’s UI labels, data stages, and run controls into a clean overview you can use to explain the product quickly.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9CBC5-3C3C-42A5-85B9-9A9A6457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971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2C"/>
          </a:solidFill>
          <a:ln xmlns:a="http://schemas.openxmlformats.org/drawingml/2006/main" w="9525">
            <a:solidFill>
              <a:srgbClr val="24312C"/>
            </a:solidFill>
            <a:prstDash val="solid"/>
          </a:ln>
        </p:spPr>
        <p:txBody>
          <a:bodyPr xmlns:a="http://schemas.openxmlformats.org/drawingml/2006/main" lIns="114300" tIns="38100" rIns="11430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1F4F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F4F0"/>
                </a:solidFill>
                <a:latin typeface="Aptos"/>
                <a:ea typeface="Aptos"/>
                <a:cs typeface="Aptos"/>
              </a:rPr>
              <a:t>Projects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D7347-4B53-429A-B466-45AFE2C8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9570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2C"/>
          </a:solidFill>
          <a:ln xmlns:a="http://schemas.openxmlformats.org/drawingml/2006/main" w="9525">
            <a:solidFill>
              <a:srgbClr val="24312C"/>
            </a:solidFill>
            <a:prstDash val="solid"/>
          </a:ln>
        </p:spPr>
        <p:txBody>
          <a:bodyPr xmlns:a="http://schemas.openxmlformats.org/drawingml/2006/main" lIns="114300" tIns="38100" rIns="11430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1F4F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F4F0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656EF-BE68-4409-874C-167C912C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95700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2C"/>
          </a:solidFill>
          <a:ln xmlns:a="http://schemas.openxmlformats.org/drawingml/2006/main" w="9525">
            <a:solidFill>
              <a:srgbClr val="24312C"/>
            </a:solidFill>
            <a:prstDash val="solid"/>
          </a:ln>
        </p:spPr>
        <p:txBody>
          <a:bodyPr xmlns:a="http://schemas.openxmlformats.org/drawingml/2006/main" lIns="114300" tIns="38100" rIns="11430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1F4F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F4F0"/>
                </a:solidFill>
                <a:latin typeface="Aptos"/>
                <a:ea typeface="Aptos"/>
                <a:cs typeface="Aptos"/>
              </a:rPr>
              <a:t>Inference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2C2A7-6ED9-4E5A-A391-A6958896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957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2C"/>
          </a:solidFill>
          <a:ln xmlns:a="http://schemas.openxmlformats.org/drawingml/2006/main" w="9525">
            <a:solidFill>
              <a:srgbClr val="24312C"/>
            </a:solidFill>
            <a:prstDash val="solid"/>
          </a:ln>
        </p:spPr>
        <p:txBody>
          <a:bodyPr xmlns:a="http://schemas.openxmlformats.org/drawingml/2006/main" lIns="114300" tIns="38100" rIns="11430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1F4F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F4F0"/>
                </a:solidFill>
                <a:latin typeface="Aptos"/>
                <a:ea typeface="Aptos"/>
                <a:cs typeface="Aptos"/>
              </a:rPr>
              <a:t>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C2D43-62C4-4DAD-918F-816084CC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838200"/>
            <a:ext cx="4381500" cy="52197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8F3E9"/>
          </a:solidFill>
          <a:ln xmlns:a="http://schemas.openxmlformats.org/drawingml/2006/main" w="10478">
            <a:solidFill>
              <a:srgbClr val="37433E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ee908ca8e43dd"/>
          <a:stretch xmlns:a="http://schemas.openxmlformats.org/drawingml/2006/main"/>
        </p:blipFill>
        <p:spPr>
          <a:xfrm xmlns:a="http://schemas.openxmlformats.org/drawingml/2006/main">
            <a:off x="8515350" y="1162050"/>
            <a:ext cx="1600200" cy="16002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2B90A-F163-4F96-A066-01C503E4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099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275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275D"/>
                </a:solidFill>
                <a:latin typeface="Aptos"/>
                <a:ea typeface="Aptos"/>
                <a:cs typeface="Aptos"/>
              </a:rPr>
              <a:t>What the app does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9E147-D3F4-4475-813C-38E41357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33750"/>
            <a:ext cx="3448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27322E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27322E"/>
                </a:solidFill>
                <a:latin typeface="Aptos"/>
                <a:ea typeface="Aptos"/>
                <a:cs typeface="Aptos"/>
              </a:rPr>
              <a:t>It keeps project setup, data import, model training, live inference, preview, and cleanup in one place.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EEDEE-7362-48B9-9B15-B54EE77A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815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672"/>
          </a:solidFill>
          <a:ln xmlns:a="http://schemas.openxmlformats.org/drawingml/2006/main" w="0">
            <a:solidFill>
              <a:srgbClr val="C736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A114C-F798-44C7-9F46-AA37A5C8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862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322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7322E"/>
                </a:solidFill>
                <a:latin typeface="Aptos"/>
                <a:ea typeface="Aptos"/>
                <a:cs typeface="Aptos"/>
              </a:rPr>
              <a:t>Project shell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58499-FB97-4B38-9B6F-D5F8154A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7675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One active project anchors training, inference, and storage.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A9C49-78CA-487E-A457-9AEAEB30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7205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88"/>
          </a:solidFill>
          <a:ln xmlns:a="http://schemas.openxmlformats.org/drawingml/2006/main" w="0">
            <a:solidFill>
              <a:srgbClr val="385E8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DBC550-7979-4D93-B6CB-C70DF83B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768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322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7322E"/>
                </a:solidFill>
                <a:latin typeface="Aptos"/>
                <a:ea typeface="Aptos"/>
                <a:cs typeface="Aptos"/>
              </a:rPr>
              <a:t>File workflows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98B77-578C-444D-B1D8-07231EFA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673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Images, videos, weights, and CSVs can all be imported.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F79A25-E936-46C1-B0D9-6C1D9686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626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F59"/>
          </a:solidFill>
          <a:ln xmlns:a="http://schemas.openxmlformats.org/drawingml/2006/main" w="0">
            <a:solidFill>
              <a:srgbClr val="246F5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554774-0068-4A77-97E4-46925FC3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673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322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7322E"/>
                </a:solidFill>
                <a:latin typeface="Aptos"/>
                <a:ea typeface="Aptos"/>
                <a:cs typeface="Aptos"/>
              </a:rPr>
              <a:t>Run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25F56C-13E3-4C9F-9AA1-CB83A5F3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65785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Preview, extract frames, and recover or delete data safely.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1DDBEE-05C4-478E-BAC5-8D4103A5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387349-8025-4BFB-88C1-CA99D9B4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AB7B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AB7B1"/>
                </a:solidFill>
                <a:latin typeface="Aptos"/>
                <a:ea typeface="Aptos"/>
                <a:cs typeface="Aptos"/>
              </a:rPr>
              <a:t>Pink Ward feature export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F939FD-F663-43BA-B37D-A2F80D25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448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AB7B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AB7B1"/>
                </a:solidFill>
                <a:latin typeface="Aptos"/>
                <a:ea typeface="Aptos"/>
                <a:cs typeface="Aptos"/>
              </a:rPr>
              <a:t>Built from app source labels and UI behavior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FDFAE4-B7B9-4EDB-9987-4D979C2A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AAB7B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AB7B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589149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A3758B-691F-4CB5-B283-231D4FC5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0">
            <a:solidFill>
              <a:srgbClr val="F5F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68B80-CF95-48A1-8DA4-27C9434E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672"/>
          </a:solidFill>
          <a:ln xmlns:a="http://schemas.openxmlformats.org/drawingml/2006/main" w="0">
            <a:solidFill>
              <a:srgbClr val="C7367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B259D-579F-4AA4-9097-F15713F8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36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73672"/>
                </a:solidFill>
                <a:latin typeface="Aptos"/>
                <a:ea typeface="Aptos"/>
                <a:cs typeface="Aptos"/>
              </a:rPr>
              <a:t>FEATURE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E40A9-C1C9-4D0C-84DC-2877246E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rPr>
              <a:t>The app keeps the full ML workflow inside one project-backed workspace.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3A349-4FE8-4B1F-8AAC-D769DCDA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Every major action in Pink Ward ties back to the active project, so setup, training, inference, review, and cleanup never feel like separate products.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8345B-A680-4ED1-9C95-2440E77E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428750" cy="19240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4DD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2DB5E-1BFB-4532-9D50-85398EC2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672"/>
          </a:solidFill>
          <a:ln xmlns:a="http://schemas.openxmlformats.org/drawingml/2006/main" w="0">
            <a:solidFill>
              <a:srgbClr val="C7367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7431E-8681-4C64-8983-D497C27F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672"/>
          </a:solidFill>
          <a:ln xmlns:a="http://schemas.openxmlformats.org/drawingml/2006/main" w="0">
            <a:solidFill>
              <a:srgbClr val="C7367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1851C-DEC0-45D1-B133-0B5288DA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B646C-DE45-44AD-917E-8F15A45E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rPr>
              <a:t>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36BF0-1B44-4F38-97E3-B8F04E6D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162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Create the workspace, set the project type, and keep the active record selected.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4C9AE-874C-41FB-B996-8F1968F8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4800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3672"/>
          </a:solidFill>
          <a:ln xmlns:a="http://schemas.openxmlformats.org/drawingml/2006/main" w="0">
            <a:solidFill>
              <a:srgbClr val="C7367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ABCD4-C9E1-4CB5-9F3D-E54F18F5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66950"/>
            <a:ext cx="1428750" cy="19240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4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38693-74F6-4FA2-A893-8EF181DC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6695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88"/>
          </a:solidFill>
          <a:ln xmlns:a="http://schemas.openxmlformats.org/drawingml/2006/main" w="0">
            <a:solidFill>
              <a:srgbClr val="385E8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64288-EB67-4504-8B32-26AAB18D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E88"/>
          </a:solidFill>
          <a:ln xmlns:a="http://schemas.openxmlformats.org/drawingml/2006/main" w="0">
            <a:solidFill>
              <a:srgbClr val="385E8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B7DD7-A64F-4F97-95F8-DCAC7F00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6697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CDE71-7E93-4578-955A-E3841C2B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194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rPr>
              <a:t>Import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99866-A6FA-4FE9-802A-059DB510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38500"/>
            <a:ext cx="1162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Bring in training batches, inference sources, unlabeled media, or weights.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B9F577-CCF7-4206-A10C-9ED21C5D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4800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3672"/>
          </a:solidFill>
          <a:ln xmlns:a="http://schemas.openxmlformats.org/drawingml/2006/main" w="0">
            <a:solidFill>
              <a:srgbClr val="C736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7E71B0-5ECE-4FDF-AB6B-7CF78644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1428750" cy="19240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4DD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77FFC0-23CA-454C-86B2-1160B424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F59"/>
          </a:solidFill>
          <a:ln xmlns:a="http://schemas.openxmlformats.org/drawingml/2006/main" w="0">
            <a:solidFill>
              <a:srgbClr val="246F5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19131C-DC99-47D1-A275-E96C5A2D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F59"/>
          </a:solidFill>
          <a:ln xmlns:a="http://schemas.openxmlformats.org/drawingml/2006/main" w="0">
            <a:solidFill>
              <a:srgbClr val="246F5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83DDD0-4830-4D9F-A775-38F71528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6697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94F594-9D4D-4E83-A05B-876E35B1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194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rPr>
              <a:t>Train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488406-BAF8-4868-B5C9-0B852EF3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38500"/>
            <a:ext cx="1162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Choose batches, base weights, and hyperparameters after CUDA is checked.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57FF46-D1C4-4873-8B29-07441176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3672"/>
          </a:solidFill>
          <a:ln xmlns:a="http://schemas.openxmlformats.org/drawingml/2006/main" w="0">
            <a:solidFill>
              <a:srgbClr val="C7367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3C60E4-A73C-4ACD-9DF0-5E9BC317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1428750" cy="19240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4DD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F094B0-9C0D-44C0-B10C-CE2A1467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A1C"/>
          </a:solidFill>
          <a:ln xmlns:a="http://schemas.openxmlformats.org/drawingml/2006/main" w="0">
            <a:solidFill>
              <a:srgbClr val="A66A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CFE2D3-5F39-494C-8F5A-676EA797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A1C"/>
          </a:solidFill>
          <a:ln xmlns:a="http://schemas.openxmlformats.org/drawingml/2006/main" w="0">
            <a:solidFill>
              <a:srgbClr val="A66A1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8858E9-F393-43F2-A353-73AA3422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6697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D50365-9E52-4325-82F9-DEC247C4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rPr>
              <a:t>Model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64F496-24B7-4EF7-B925-627E1769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1162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Store checkpoints, weight files, and validation results in one place.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DA1D35-DD05-4D8A-AFE1-3398B697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3672"/>
          </a:solidFill>
          <a:ln xmlns:a="http://schemas.openxmlformats.org/drawingml/2006/main" w="0">
            <a:solidFill>
              <a:srgbClr val="C7367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409CA0-39CD-40A3-B10E-A9E88DC8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1428750" cy="19240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4DDD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C95250-C22A-4BD0-9E0B-81CD2BA6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672"/>
          </a:solidFill>
          <a:ln xmlns:a="http://schemas.openxmlformats.org/drawingml/2006/main" w="0">
            <a:solidFill>
              <a:srgbClr val="C7367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CDA1A8-E85F-497C-8CBF-67D899D0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672"/>
          </a:solidFill>
          <a:ln xmlns:a="http://schemas.openxmlformats.org/drawingml/2006/main" w="0">
            <a:solidFill>
              <a:srgbClr val="C7367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8C66EB-D4D2-4CAD-B1EF-5CE7F1C8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6697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C4CC77-639F-4719-BAB3-60388BB7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194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rPr>
              <a:t>Inference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4F487C-0F67-48DA-BD68-F049BF11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38500"/>
            <a:ext cx="1162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Pick a source, tune confidence, and watch results stream in real time.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AF96EF-8375-496A-9604-4368672C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4800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3672"/>
          </a:solidFill>
          <a:ln xmlns:a="http://schemas.openxmlformats.org/drawingml/2006/main" w="0">
            <a:solidFill>
              <a:srgbClr val="C7367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A96EF0-C9A7-48FF-A174-E18E1790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66950"/>
            <a:ext cx="1428750" cy="19240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4DDD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F939AA-E4E6-4109-BCAC-E1F1E53A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6695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88"/>
          </a:solidFill>
          <a:ln xmlns:a="http://schemas.openxmlformats.org/drawingml/2006/main" w="0">
            <a:solidFill>
              <a:srgbClr val="385E8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FF33B9-0000-4FC5-BD06-537011F9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E88"/>
          </a:solidFill>
          <a:ln xmlns:a="http://schemas.openxmlformats.org/drawingml/2006/main" w="0">
            <a:solidFill>
              <a:srgbClr val="385E8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6FD37B-075C-49A4-ADF5-423CB02C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6697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D721A4-3FFD-42DF-98BE-65B17FDE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194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rPr>
              <a:t>Review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5DF084-4C0C-41AF-B77C-E5CD6902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38500"/>
            <a:ext cx="1162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Preview outputs, extract frames and labels, revisit history, or clean up.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41ECF6-09BA-475C-BC75-3D2E05E1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3441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9F6EF"/>
          </a:solidFill>
          <a:ln xmlns:a="http://schemas.openxmlformats.org/drawingml/2006/main" w="10478">
            <a:solidFill>
              <a:srgbClr val="DFE5D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C9EE62-1370-4D90-8E67-D43A9C4B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ED"/>
          </a:solidFill>
          <a:ln xmlns:a="http://schemas.openxmlformats.org/drawingml/2006/main" w="9525">
            <a:solidFill>
              <a:srgbClr val="F1E6ED"/>
            </a:solidFill>
            <a:prstDash val="solid"/>
          </a:ln>
        </p:spPr>
        <p:txBody>
          <a:bodyPr xmlns:a="http://schemas.openxmlformats.org/drawingml/2006/main" lIns="114300" tIns="38100" rIns="11430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727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275D"/>
                </a:solidFill>
                <a:latin typeface="Aptos"/>
                <a:ea typeface="Aptos"/>
                <a:cs typeface="Aptos"/>
              </a:rPr>
              <a:t>Active project stays selected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B14AE3-A132-40C9-A84D-67BDAA83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339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7"/>
          </a:solidFill>
          <a:ln xmlns:a="http://schemas.openxmlformats.org/drawingml/2006/main" w="9525">
            <a:solidFill>
              <a:srgbClr val="E7EDF7"/>
            </a:solidFill>
            <a:prstDash val="solid"/>
          </a:ln>
        </p:spPr>
        <p:txBody>
          <a:bodyPr xmlns:a="http://schemas.openxmlformats.org/drawingml/2006/main" lIns="114300" tIns="38100" rIns="11430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85E8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5E88"/>
                </a:solidFill>
                <a:latin typeface="Aptos"/>
                <a:ea typeface="Aptos"/>
                <a:cs typeface="Aptos"/>
              </a:rPr>
              <a:t>Every stage is file-backed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1AF0F4-DE32-42AF-8F81-B0659F44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933950"/>
            <a:ext cx="2457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9525">
            <a:solidFill>
              <a:srgbClr val="E4F0E9"/>
            </a:solidFill>
            <a:prstDash val="solid"/>
          </a:ln>
        </p:spPr>
        <p:txBody>
          <a:bodyPr xmlns:a="http://schemas.openxmlformats.org/drawingml/2006/main" lIns="114300" tIns="38100" rIns="11430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F5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F59"/>
                </a:solidFill>
                <a:latin typeface="Aptos"/>
                <a:ea typeface="Aptos"/>
                <a:cs typeface="Aptos"/>
              </a:rPr>
              <a:t>Trash is recoverable until deletion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C72D49-490D-40AE-BE81-81748AF5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959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The sequence is intentionally linear: each step adds context to the same project record instead of sending the user to a new app surface.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5767CC-B0DB-408F-8C19-C27D240F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23A2EE-900B-413D-9044-FBABAA57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Pink Ward feature export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A1D74D-99B7-4E43-AF2C-023AB5EB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448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Workflow map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2420AE-DC01-4EC4-9C24-045D8246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B766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98658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616ECF-C4E9-4B7F-8F2F-8C633F70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FBF8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5BA71-40B4-4EAD-86D9-BE60D211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F59"/>
          </a:solidFill>
          <a:ln xmlns:a="http://schemas.openxmlformats.org/drawingml/2006/main" w="0">
            <a:solidFill>
              <a:srgbClr val="246F5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A05B0-911B-4E87-8C38-ED37A9E0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F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F59"/>
                </a:solidFill>
                <a:latin typeface="Aptos"/>
                <a:ea typeface="Aptos"/>
                <a:cs typeface="Aptos"/>
              </a:rPr>
              <a:t>PROJECT SURFACE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C4C77-BDFF-4145-AB59-EF344E83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9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rPr>
              <a:t>The active project page keeps model, training, and storage work in one place.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7F647-F5CA-4306-9D41-71450D3E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Pink Ward separates the workspace into predictable zones, but the project context never disappears. That is why the same screen can handle setup, review, and cleanup without a context switch.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CD548-563C-4CCE-8AFF-21080FB6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61722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E1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76FD2-AEDD-480B-A80D-87D47A0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6172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F59"/>
          </a:solidFill>
          <a:ln xmlns:a="http://schemas.openxmlformats.org/drawingml/2006/main" w="0">
            <a:solidFill>
              <a:srgbClr val="246F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A8711-58ED-4CC5-BBAD-BC8F30C4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rPr>
              <a:t>Active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D6006-6706-4A9D-99E7-B5701912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A project is the container for imported data, models, inference outputs, and trash.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AA680-1DBD-42E8-9A6D-4A5E4DE3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0EA"/>
          </a:solidFill>
          <a:ln xmlns:a="http://schemas.openxmlformats.org/drawingml/2006/main" w="9525">
            <a:solidFill>
              <a:srgbClr val="E3F0EA"/>
            </a:solidFill>
            <a:prstDash val="solid"/>
          </a:ln>
        </p:spPr>
        <p:txBody>
          <a:bodyPr xmlns:a="http://schemas.openxmlformats.org/drawingml/2006/main" lIns="114300" tIns="38100" rIns="11430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F5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F59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70BD3-664A-4E7F-9944-5BF6D2C5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7"/>
          </a:solidFill>
          <a:ln xmlns:a="http://schemas.openxmlformats.org/drawingml/2006/main" w="9525">
            <a:solidFill>
              <a:srgbClr val="E7EDF7"/>
            </a:solidFill>
            <a:prstDash val="solid"/>
          </a:ln>
        </p:spPr>
        <p:txBody>
          <a:bodyPr xmlns:a="http://schemas.openxmlformats.org/drawingml/2006/main" lIns="114300" tIns="38100" rIns="11430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85E8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5E88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6FDB6-0E2A-4232-9A9F-18BC2B72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289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9DB"/>
          </a:solidFill>
          <a:ln xmlns:a="http://schemas.openxmlformats.org/drawingml/2006/main" w="9525">
            <a:solidFill>
              <a:srgbClr val="F2E9DB"/>
            </a:solidFill>
            <a:prstDash val="solid"/>
          </a:ln>
        </p:spPr>
        <p:txBody>
          <a:bodyPr xmlns:a="http://schemas.openxmlformats.org/drawingml/2006/main" lIns="114300" tIns="38100" rIns="11430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66A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6A1C"/>
                </a:solidFill>
                <a:latin typeface="Aptos"/>
                <a:ea typeface="Aptos"/>
                <a:cs typeface="Aptos"/>
              </a:rPr>
              <a:t>Storage / Trash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AC4A5-928E-41DE-B52E-F1EF20D0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0E675-93E2-4E7C-9DD3-B904011C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6A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6A1C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786F30-2C9D-4885-BA1A-3214ADD3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552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7322E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27322E"/>
                </a:solidFill>
                <a:latin typeface="Aptos"/>
                <a:ea typeface="Aptos"/>
                <a:cs typeface="Aptos"/>
              </a:rPr>
              <a:t>Imported weights are stored with the checkpoint name, path, and validation details so you can compare runs.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79B3BA-33A7-4937-9647-40721B78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50BAA-7F15-45B8-AA29-2D836BC7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5E8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5E88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E34D2-63FD-473F-A7BE-102254EA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552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7322E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27322E"/>
                </a:solidFill>
                <a:latin typeface="Aptos"/>
                <a:ea typeface="Aptos"/>
                <a:cs typeface="Aptos"/>
              </a:rPr>
              <a:t>This is where you pick batches, verify CUDA support, and set the hyperparameters before starting a run.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67BB1-9F26-4390-B54D-C9B0BA2B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1404F-53C9-438C-A8F9-CDDECBF5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67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3672"/>
                </a:solidFill>
                <a:latin typeface="Aptos"/>
                <a:ea typeface="Aptos"/>
                <a:cs typeface="Aptos"/>
              </a:rPr>
              <a:t>Storage / Trash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7DAFD0-39B4-444D-8D84-B96D9E82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552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7322E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27322E"/>
                </a:solidFill>
                <a:latin typeface="Aptos"/>
                <a:ea typeface="Aptos"/>
                <a:cs typeface="Aptos"/>
              </a:rPr>
              <a:t>Totals are grouped by file state, and deleted files can be recovered before permanent removal.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168602-2B7E-4A88-A27A-7F701C33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28850"/>
            <a:ext cx="42672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CFAF4"/>
          </a:solidFill>
          <a:ln xmlns:a="http://schemas.openxmlformats.org/drawingml/2006/main" w="10478">
            <a:solidFill>
              <a:srgbClr val="DEE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E9CDA4-797C-4ACD-8641-E28E3DE3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193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275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275D"/>
                </a:solidFill>
                <a:latin typeface="Aptos"/>
                <a:ea typeface="Aptos"/>
                <a:cs typeface="Aptos"/>
              </a:rPr>
              <a:t>What each area owns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99AF7-BEC1-40CF-8D20-055F122B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05100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21E610-4CEE-4A4A-8FBA-A6DA7049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19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36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3672"/>
                </a:solidFill>
                <a:latin typeface="Aptos"/>
                <a:ea typeface="Aptos"/>
                <a:cs typeface="Aptos"/>
              </a:rPr>
              <a:t>Projects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908C3E-8BBE-4C3F-80A7-A7E7A40C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480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Recent work and the active record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8622F2-D1C4-4310-ADCE-C51C4AEE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29000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84BD91-5C48-4046-A3F2-46CFD885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43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6A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66A1C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0FC0AF-F900-40EE-9C32-B3230BC8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719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Checkpoints, weights, and validation set attachments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FFF2C5-0964-4DCF-8E7D-E67732FF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52900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407A00-CBB9-4A55-84FF-A1E19BDE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672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5E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5E88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268887-A24E-47A0-8AA7-6D384367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95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Selected batches, base model, and hyperparameters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F22E5F-6C4A-45C3-97A4-BB1F3231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76800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F24C88-375E-4B5E-B94C-9E8B1E87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91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6F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F59"/>
                </a:solidFill>
                <a:latin typeface="Aptos"/>
                <a:ea typeface="Aptos"/>
                <a:cs typeface="Aptos"/>
              </a:rPr>
              <a:t>Storage / Trash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BF0570-F8B9-4F67-8FDF-560B6179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197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File totals, recovery, and permanent delete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D9B9DD-AF07-4115-A3D2-B312E439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772150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FF5AF0-18F2-4EE4-81B2-E558F70D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867400"/>
            <a:ext cx="371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22E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7322E"/>
                </a:solidFill>
                <a:latin typeface="Aptos"/>
                <a:ea typeface="Aptos"/>
                <a:cs typeface="Aptos"/>
              </a:rPr>
              <a:t>The layout feels modular, but every module still points back to the same project record.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B692F8-D6E8-4172-857F-65D7BFC9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D31122-8783-488E-882F-6ED14316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Pink Ward feature export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4293D6-2647-47FE-9695-3D257E62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448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Project page map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D38FF0-70A9-4985-94C1-75949174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B766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38941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250111-02E2-4C8D-90DA-31A4A870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17211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B8D67-AFC8-4A16-948D-FE344076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1CB"/>
          </a:solidFill>
          <a:ln xmlns:a="http://schemas.openxmlformats.org/drawingml/2006/main" w="0">
            <a:solidFill>
              <a:srgbClr val="F0B1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63094-F310-4A6B-84B1-D681122D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B1C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0B1CB"/>
                </a:solidFill>
                <a:latin typeface="Aptos"/>
                <a:ea typeface="Aptos"/>
                <a:cs typeface="Aptos"/>
              </a:rPr>
              <a:t>INFERENCE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6A340-9F02-4AF2-9F83-7601F05C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Inference is a controlled run, not a one-way export.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35679-464B-440D-89CA-BC0A9114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D3DDD7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D3DDD7"/>
                </a:solidFill>
                <a:latin typeface="Aptos"/>
                <a:ea typeface="Aptos"/>
                <a:cs typeface="Aptos"/>
              </a:rPr>
              <a:t>The UI gives you a source selector, confidence control, tracker toggle, live progress, and recovery paths so the run can be watched, interrupted, and revisited.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10F9A-8C7D-4C70-9F9C-899975FB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6002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5EFE4"/>
          </a:solidFill>
          <a:ln xmlns:a="http://schemas.openxmlformats.org/drawingml/2006/main" w="10478">
            <a:solidFill>
              <a:srgbClr val="3A474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2DAD2-2815-41A6-80F0-4321A778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1CB"/>
          </a:solidFill>
          <a:ln xmlns:a="http://schemas.openxmlformats.org/drawingml/2006/main" w="0">
            <a:solidFill>
              <a:srgbClr val="F0B1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4B816-1BFF-45B2-8458-7BBFAC26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rPr>
              <a:t>Choose project +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C05E1-939B-4D44-99E4-324807B1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Pick the active record and the imported weights you want to run.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27E08-C35F-452E-B645-A34D5264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19425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1CB"/>
          </a:solidFill>
          <a:ln xmlns:a="http://schemas.openxmlformats.org/drawingml/2006/main" w="0">
            <a:solidFill>
              <a:srgbClr val="F0B1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50199-F0CB-4889-A0AD-8D2C6A5B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24100"/>
            <a:ext cx="16002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5EFE4"/>
          </a:solidFill>
          <a:ln xmlns:a="http://schemas.openxmlformats.org/drawingml/2006/main" w="10478">
            <a:solidFill>
              <a:srgbClr val="3A474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A6D8B-3D2B-4D20-9704-2B10B26D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24100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A"/>
          </a:solidFill>
          <a:ln xmlns:a="http://schemas.openxmlformats.org/drawingml/2006/main" w="0">
            <a:solidFill>
              <a:srgbClr val="8DB4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CA30E-2C24-42B2-980C-7EDE4B78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146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rPr>
              <a:t>Import files or folders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BC690-2ED8-4D0A-AB04-AA0EB79F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90850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Stage images, videos, or an inference source before the run starts.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A98C6-15E6-4A80-8E94-57B2183B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90875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1CB"/>
          </a:solidFill>
          <a:ln xmlns:a="http://schemas.openxmlformats.org/drawingml/2006/main" w="0">
            <a:solidFill>
              <a:srgbClr val="F0B1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7C68E-C058-4E59-A865-72F1E356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86050"/>
            <a:ext cx="16002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5EFE4"/>
          </a:solidFill>
          <a:ln xmlns:a="http://schemas.openxmlformats.org/drawingml/2006/main" w="10478">
            <a:solidFill>
              <a:srgbClr val="3A47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C39B2-4DD6-4F37-9453-B2BDD945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86050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1CB"/>
          </a:solidFill>
          <a:ln xmlns:a="http://schemas.openxmlformats.org/drawingml/2006/main" w="0">
            <a:solidFill>
              <a:srgbClr val="F0B1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B2BA6-39B3-4199-B2D5-8B59EB52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765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rPr>
              <a:t>Set confidence + tracker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DBBAAB-709A-4862-A0A0-322AA74F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52800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Tune the threshold and optional tracking behavior for the run.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CE6D7D-E158-4495-8D4E-1C1E2572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19425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1CB"/>
          </a:solidFill>
          <a:ln xmlns:a="http://schemas.openxmlformats.org/drawingml/2006/main" w="0">
            <a:solidFill>
              <a:srgbClr val="F0B1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1BAFB3-61BE-4C38-8D12-C6E65D6F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16002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5EFE4"/>
          </a:solidFill>
          <a:ln xmlns:a="http://schemas.openxmlformats.org/drawingml/2006/main" w="10478">
            <a:solidFill>
              <a:srgbClr val="3A474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86FA7F-16E5-4ABC-B2D2-F679E068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A"/>
          </a:solidFill>
          <a:ln xmlns:a="http://schemas.openxmlformats.org/drawingml/2006/main" w="0">
            <a:solidFill>
              <a:srgbClr val="8DB4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358C64-2BEC-4DE9-AC99-E220AAE7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146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rPr>
              <a:t>Watch live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AD9D43-4708-4BCD-9D07-125885FA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Progress, frame events, and previews stream back to the UI.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08ED69-95D1-4209-A20E-5A7CD6E6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90875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1CB"/>
          </a:solidFill>
          <a:ln xmlns:a="http://schemas.openxmlformats.org/drawingml/2006/main" w="0">
            <a:solidFill>
              <a:srgbClr val="F0B1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E384D3-79D4-43D3-95A4-F0210B89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86050"/>
            <a:ext cx="16002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5EFE4"/>
          </a:solidFill>
          <a:ln xmlns:a="http://schemas.openxmlformats.org/drawingml/2006/main" w="10478">
            <a:solidFill>
              <a:srgbClr val="3A474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E18179-2FD5-44C0-91FB-A09AA394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86050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1CB"/>
          </a:solidFill>
          <a:ln xmlns:a="http://schemas.openxmlformats.org/drawingml/2006/main" w="0">
            <a:solidFill>
              <a:srgbClr val="F0B1C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CDA264-B9AF-4E93-B957-5E3230CB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765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rPr>
              <a:t>Review or extract frames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F2771F-8EE8-410B-AA51-4B80FBC4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52800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Open history, preview results, or turn video outputs into labeled frames.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84FF68-86FD-43A5-A8F6-558A0649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23312C"/>
          </a:solidFill>
          <a:ln xmlns:a="http://schemas.openxmlformats.org/drawingml/2006/main" w="10478">
            <a:solidFill>
              <a:srgbClr val="3E4A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BE61A9-8A7D-4E96-A24F-A85079B0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B1C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0B1CB"/>
                </a:solidFill>
                <a:latin typeface="Aptos"/>
                <a:ea typeface="Aptos"/>
                <a:cs typeface="Aptos"/>
              </a:rPr>
              <a:t>Run controls that matter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A37BEB-9476-4D6A-80EB-4E8E1387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D8E1DC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D8E1DC"/>
                </a:solidFill>
                <a:latin typeface="Aptos"/>
                <a:ea typeface="Aptos"/>
                <a:cs typeface="Aptos"/>
              </a:rPr>
              <a:t>Pink Ward exposes the confidence threshold, tracking toggle, cancel action, and extract-frames flow inside the same run experience, which keeps the user in control instead of waiting for a black box to finish.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8775DA-EE59-4DE9-B5CC-517C798E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3E3BD2-1282-4588-8C65-C1453719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AB7B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AB7B1"/>
                </a:solidFill>
                <a:latin typeface="Aptos"/>
                <a:ea typeface="Aptos"/>
                <a:cs typeface="Aptos"/>
              </a:rPr>
              <a:t>Pink Ward feature export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B62CF3-76BC-4DA9-96DE-52F47404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448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AB7B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AB7B1"/>
                </a:solidFill>
                <a:latin typeface="Aptos"/>
                <a:ea typeface="Aptos"/>
                <a:cs typeface="Aptos"/>
              </a:rPr>
              <a:t>Inference lifecycle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465FC1-6497-404F-8966-305FC78E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AAB7B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AB7B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52124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CA6537-18FE-4D38-B59B-71C50362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0">
            <a:solidFill>
              <a:srgbClr val="F5F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A401C-45EF-4CD0-8939-3A168EEE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A1C"/>
          </a:solidFill>
          <a:ln xmlns:a="http://schemas.openxmlformats.org/drawingml/2006/main" w="0">
            <a:solidFill>
              <a:srgbClr val="A66A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37415-FA94-4BE9-8AAE-A8952725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6A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66A1C"/>
                </a:solidFill>
                <a:latin typeface="Aptos"/>
                <a:ea typeface="Aptos"/>
                <a:cs typeface="Aptos"/>
              </a:rPr>
              <a:t>TERMINOLOGY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9DAF2-6642-4748-AF23-7D964D4D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7322E"/>
                </a:solidFill>
                <a:latin typeface="Aptos Display"/>
                <a:ea typeface="Aptos Display"/>
                <a:cs typeface="Aptos Display"/>
              </a:rPr>
              <a:t>Most of the vocabulary describes data state, not UI chrome.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4BB87-F139-4823-AE74-C1135113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1082040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7DF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26ECC-6477-4553-825F-EEF2C3C9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10820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A1C"/>
          </a:solidFill>
          <a:ln xmlns:a="http://schemas.openxmlformats.org/drawingml/2006/main" w="0">
            <a:solidFill>
              <a:srgbClr val="A66A1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6C855-DE63-4315-B33D-73EB77CC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400175"/>
            <a:ext cx="9525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E6B57-33B4-48BD-8E54-18464DF5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400175"/>
            <a:ext cx="9525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E2B92-E30A-40B4-BAAC-5D12DCEF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95425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66F"/>
                </a:solidFill>
                <a:latin typeface="Aptos"/>
                <a:ea typeface="Aptos"/>
                <a:cs typeface="Aptos"/>
              </a:rPr>
              <a:t>Term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E600E-9B44-43ED-A437-7CEC8519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495425"/>
            <a:ext cx="624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66F"/>
                </a:solidFill>
                <a:latin typeface="Aptos"/>
                <a:ea typeface="Aptos"/>
                <a:cs typeface="Aptos"/>
              </a:rPr>
              <a:t>Plain-English meaning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C9D97-26E7-42B9-8289-3397500F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495425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66F"/>
                </a:solidFill>
                <a:latin typeface="Aptos"/>
                <a:ea typeface="Aptos"/>
                <a:cs typeface="Aptos"/>
              </a:rPr>
              <a:t>Where you see 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814C0-14D2-4A6B-9A86-9AD5FB56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ABC0E-88CD-4CA9-93D8-B39CC697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ADFF5-DC54-41EC-9D8A-7824058A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7322E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27322E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66260-D3FD-4893-9B20-981DF424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38325"/>
            <a:ext cx="624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893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The active workspace record that holds related data, models, and runs.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74136-ED2C-4640-88A6-4722934E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383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A7275D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A7275D"/>
                </a:solidFill>
                <a:latin typeface="Aptos"/>
                <a:ea typeface="Aptos"/>
                <a:cs typeface="Aptos"/>
              </a:rPr>
              <a:t>Home, active project, tabs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5C8EF-A790-4FC1-B1F1-09704B8D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10820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4"/>
          </a:solidFill>
          <a:ln xmlns:a="http://schemas.openxmlformats.org/drawingml/2006/main" w="0">
            <a:solidFill>
              <a:srgbClr val="F6F9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4E4E2-D8CF-488F-B11F-F9EC4BB1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C1686E-9D22-4692-8CEE-34BF2FA9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7322E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27322E"/>
                </a:solidFill>
                <a:latin typeface="Aptos"/>
                <a:ea typeface="Aptos"/>
                <a:cs typeface="Aptos"/>
              </a:rPr>
              <a:t>Batch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CC313-B300-4521-810B-EB59A067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43125"/>
            <a:ext cx="624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893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A named group of imported files, often one folder or one selected 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DBBAA1-9E5C-4021-8906-52B80409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431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385E88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385E88"/>
                </a:solidFill>
                <a:latin typeface="Aptos"/>
                <a:ea typeface="Aptos"/>
                <a:cs typeface="Aptos"/>
              </a:rPr>
              <a:t>Training, inference, unlabeled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EB7212-A461-412F-84C2-1A8E3AC0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10820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EFFA07-083B-4ED5-8539-3C95F91A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19004C-0240-4206-8476-0A95DF1E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7322E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27322E"/>
                </a:solidFill>
                <a:latin typeface="Aptos"/>
                <a:ea typeface="Aptos"/>
                <a:cs typeface="Aptos"/>
              </a:rPr>
              <a:t>Training 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479A14-FE8C-4A0F-B182-1EF2AF70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624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893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The imported batches used to fit a model or checkpoint.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0B2D49-FCFD-4413-B632-9212D4E0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479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46F59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246F59"/>
                </a:solidFill>
                <a:latin typeface="Aptos"/>
                <a:ea typeface="Aptos"/>
                <a:cs typeface="Aptos"/>
              </a:rPr>
              <a:t>Training setup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3A5D56-FAF1-4CF5-A8A1-A0164185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820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4"/>
          </a:solidFill>
          <a:ln xmlns:a="http://schemas.openxmlformats.org/drawingml/2006/main" w="0">
            <a:solidFill>
              <a:srgbClr val="F6F9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030DC0-D8E3-4FB4-8B8D-AF44F302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24DD18-102B-4931-9070-74A9E43B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7322E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27322E"/>
                </a:solidFill>
                <a:latin typeface="Aptos"/>
                <a:ea typeface="Aptos"/>
                <a:cs typeface="Aptos"/>
              </a:rPr>
              <a:t>Model / checkpoint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28E3F9-5AF6-4A62-AE4B-34CC73DD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52725"/>
            <a:ext cx="624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893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A saved set of weights plus its stored file details.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434A15-4CB6-4595-876D-BCE8BDF8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527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A7275D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A7275D"/>
                </a:solidFill>
                <a:latin typeface="Aptos"/>
                <a:ea typeface="Aptos"/>
                <a:cs typeface="Aptos"/>
              </a:rPr>
              <a:t>Models tab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837572-3BF8-4208-8005-AA6FEC57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C69690-BC20-4891-8B09-823DB2F1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584C05-0A7A-43DE-913F-3872FEE7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7322E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27322E"/>
                </a:solidFill>
                <a:latin typeface="Aptos"/>
                <a:ea typeface="Aptos"/>
                <a:cs typeface="Aptos"/>
              </a:rPr>
              <a:t>Weights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CB7460-BA5A-4A11-B217-D6EA03BA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57525"/>
            <a:ext cx="624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893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The actual model file used when you run inference or import a checkpoint.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3C0C69-19B4-4955-BDF3-4027D45C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575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385E88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385E88"/>
                </a:solidFill>
                <a:latin typeface="Aptos"/>
                <a:ea typeface="Aptos"/>
                <a:cs typeface="Aptos"/>
              </a:rPr>
              <a:t>Import weights, inference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F913F8-E0CC-4AB0-A674-7B0091FE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10820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4"/>
          </a:solidFill>
          <a:ln xmlns:a="http://schemas.openxmlformats.org/drawingml/2006/main" w="0">
            <a:solidFill>
              <a:srgbClr val="F6F9F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55F8AF-C773-4221-BC52-EB95FD35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3504D6-1A7F-4B11-8495-3D7DB3C6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7322E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27322E"/>
                </a:solidFill>
                <a:latin typeface="Aptos"/>
                <a:ea typeface="Aptos"/>
                <a:cs typeface="Aptos"/>
              </a:rPr>
              <a:t>Inference source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B74FFE-41E1-43B4-B294-CCFA1C90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62325"/>
            <a:ext cx="624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893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The images or videos that will be processed in a run.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B0B9ED-EE29-45AA-A5F5-98AA2E00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623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46F59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246F59"/>
                </a:solidFill>
                <a:latin typeface="Aptos"/>
                <a:ea typeface="Aptos"/>
                <a:cs typeface="Aptos"/>
              </a:rPr>
              <a:t>Import and start inference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62D625-6A83-4040-B151-BE0DA0AC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0820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DCDD66-D249-47B5-A0D3-378258B2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6CC24B-194E-4EF7-B413-22E864BF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7322E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27322E"/>
                </a:solidFill>
                <a:latin typeface="Aptos"/>
                <a:ea typeface="Aptos"/>
                <a:cs typeface="Aptos"/>
              </a:rPr>
              <a:t>Inference run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8B21FC-1067-403F-9991-FE9077AB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67125"/>
            <a:ext cx="624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893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A live or recorded prediction session with progress and output.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E77379-F8F7-4D08-80D3-F380CCD0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6671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A7275D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A7275D"/>
                </a:solidFill>
                <a:latin typeface="Aptos"/>
                <a:ea typeface="Aptos"/>
                <a:cs typeface="Aptos"/>
              </a:rPr>
              <a:t>Current inference, history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7A0C8A-CC27-4E41-ACF4-E0C2EABD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4"/>
          </a:solidFill>
          <a:ln xmlns:a="http://schemas.openxmlformats.org/drawingml/2006/main" w="0">
            <a:solidFill>
              <a:srgbClr val="F6F9F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EECCBC-93A8-4D66-B0AB-4E98128C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B774D1-3691-4772-9EC5-CFE1684C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7322E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27322E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D949D1F-7B70-4D22-BD6B-523AD510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71925"/>
            <a:ext cx="624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893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The threshold that filters lower-confidence detections.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F4DF19-9978-4149-998C-84D9D15E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719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385E88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385E88"/>
                </a:solidFill>
                <a:latin typeface="Aptos"/>
                <a:ea typeface="Aptos"/>
                <a:cs typeface="Aptos"/>
              </a:rPr>
              <a:t>Import dialog, run dialog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6B77C4-ACE0-4536-84C7-BB6D0406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10820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9D1EB1-57FB-463D-9A5A-C27D718F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F85F56-C802-4CE6-BB9F-B37E7F3A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7322E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27322E"/>
                </a:solidFill>
                <a:latin typeface="Aptos"/>
                <a:ea typeface="Aptos"/>
                <a:cs typeface="Aptos"/>
              </a:rPr>
              <a:t>Validation set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E89EC2D-D4D5-456A-B00C-E6F9774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76725"/>
            <a:ext cx="624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893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Held-out data attached to a model so results can be checked.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AE09B1-C04B-4494-BAE6-5089252D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767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46F59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246F59"/>
                </a:solidFill>
                <a:latin typeface="Aptos"/>
                <a:ea typeface="Aptos"/>
                <a:cs typeface="Aptos"/>
              </a:rPr>
              <a:t>Models tab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8348D9-80B1-4DF1-8A2D-86C706EF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4"/>
          </a:solidFill>
          <a:ln xmlns:a="http://schemas.openxmlformats.org/drawingml/2006/main" w="0">
            <a:solidFill>
              <a:srgbClr val="F6F9F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25109BE-44BE-4983-BBFF-761175A4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AB9EB6-E879-4659-9A56-C3714102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7322E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27322E"/>
                </a:solidFill>
                <a:latin typeface="Aptos"/>
                <a:ea typeface="Aptos"/>
                <a:cs typeface="Aptos"/>
              </a:rPr>
              <a:t>Unlabeled media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4D5B205-D907-475A-B561-3C6B9DFE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81525"/>
            <a:ext cx="624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893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Images or videos stored before they receive labels or review.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FC5B564-C40C-4C78-B849-AA55C40D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815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A7275D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A7275D"/>
                </a:solidFill>
                <a:latin typeface="Aptos"/>
                <a:ea typeface="Aptos"/>
                <a:cs typeface="Aptos"/>
              </a:rPr>
              <a:t>Storage / Trash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F97D9CB-E1F7-480B-B7FD-0509B6BF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820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557994-DCB1-4875-B4A5-F2B04EA4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9687F0-21AC-4CA0-81A9-322B18A6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7322E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27322E"/>
                </a:solidFill>
                <a:latin typeface="Aptos"/>
                <a:ea typeface="Aptos"/>
                <a:cs typeface="Aptos"/>
              </a:rPr>
              <a:t>Trash storage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58F106A-2815-4676-834E-444B6CA0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86325"/>
            <a:ext cx="624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893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A temporary holding area before permanent deletion.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B79C514-95C2-4E1F-A0D1-71889189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8863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385E88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385E88"/>
                </a:solidFill>
                <a:latin typeface="Aptos"/>
                <a:ea typeface="Aptos"/>
                <a:cs typeface="Aptos"/>
              </a:rPr>
              <a:t>Storage / Trash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9FB6BA3-3E32-4FD4-8C56-4B5446AD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The app's language is practical on purpose: it names files, states, and controls rather than hiding them behind abstract labels.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6CE957B-5426-45A0-B890-44D24D1B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E7"/>
          </a:solidFill>
          <a:ln xmlns:a="http://schemas.openxmlformats.org/drawingml/2006/main" w="0">
            <a:solidFill>
              <a:srgbClr val="E7EDE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781B73B-1077-4409-A1A9-D791061B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Pink Ward feature export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D5CF5A6-8ED7-4062-9FE2-19A6DF08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448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66F"/>
                </a:solidFill>
                <a:latin typeface="Aptos"/>
                <a:ea typeface="Aptos"/>
                <a:cs typeface="Aptos"/>
              </a:rPr>
              <a:t>Terminology guide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82EB027-3FCB-49BE-B3E3-275F911E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B766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B766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5999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2026-06-02T16:01:17.9980000Z</dcterms:created>
  <dcterms:modified xsi:type="dcterms:W3CDTF">2026-06-02T16:01:17.9980000Z</dcterms:modified>
</coreProperties>
</file>