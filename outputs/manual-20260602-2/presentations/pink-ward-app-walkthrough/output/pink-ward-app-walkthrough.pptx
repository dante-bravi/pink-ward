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fb68a09ee4a96" /><Relationship Type="http://schemas.openxmlformats.org/officeDocument/2006/relationships/extended-properties" Target="/docProps/app.xml" Id="R662d222e1ae34c96" /><Relationship Type="http://schemas.openxmlformats.org/officeDocument/2006/relationships/officeDocument" Target="/ppt/presentation.xml" Id="R57433056792f4d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ff17b47e143e4"/>
  </p:sldMasterIdLst>
  <p:notesMasterIdLst>
    <p:notesMasterId xmlns:r="http://schemas.openxmlformats.org/officeDocument/2006/relationships" r:id="R6464c2eec2494efc"/>
  </p:notesMasterIdLst>
  <p:sldIdLst>
    <p:sldId xmlns:r="http://schemas.openxmlformats.org/officeDocument/2006/relationships" id="256" r:id="R7f07e341f75b46c4"/>
    <p:sldId xmlns:r="http://schemas.openxmlformats.org/officeDocument/2006/relationships" id="257" r:id="R4edaac5128d24ef3"/>
    <p:sldId xmlns:r="http://schemas.openxmlformats.org/officeDocument/2006/relationships" id="258" r:id="R258b3085f0a34188"/>
    <p:sldId xmlns:r="http://schemas.openxmlformats.org/officeDocument/2006/relationships" id="259" r:id="R5ac4526d71bb4bb5"/>
    <p:sldId xmlns:r="http://schemas.openxmlformats.org/officeDocument/2006/relationships" id="260" r:id="R1c13b455a2ac4f67"/>
    <p:sldId xmlns:r="http://schemas.openxmlformats.org/officeDocument/2006/relationships" id="261" r:id="Rf6df985b76754821"/>
    <p:sldId xmlns:r="http://schemas.openxmlformats.org/officeDocument/2006/relationships" id="262" r:id="R7a33d0ee52a14f9b"/>
    <p:sldId xmlns:r="http://schemas.openxmlformats.org/officeDocument/2006/relationships" id="263" r:id="R64bebacff7a54720"/>
    <p:sldId xmlns:r="http://schemas.openxmlformats.org/officeDocument/2006/relationships" id="264" r:id="Rf2bbe02eeb814c43"/>
    <p:sldId xmlns:r="http://schemas.openxmlformats.org/officeDocument/2006/relationships" id="265" r:id="Ra3a3a286180344b4"/>
    <p:sldId xmlns:r="http://schemas.openxmlformats.org/officeDocument/2006/relationships" id="266" r:id="Re4cef7f0b88d4efe"/>
    <p:sldId xmlns:r="http://schemas.openxmlformats.org/officeDocument/2006/relationships" id="267" r:id="Rae0a89e2f62747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ff17b47e143e4" /><Relationship Type="http://schemas.openxmlformats.org/officeDocument/2006/relationships/theme" Target="/ppt/theme/theme1.xml" Id="Rb134588ddcf34420" /><Relationship Type="http://schemas.openxmlformats.org/officeDocument/2006/relationships/notesMaster" Target="/ppt/notesMasters/notesMaster1.xml" Id="R6464c2eec2494efc" /><Relationship Type="http://schemas.openxmlformats.org/officeDocument/2006/relationships/presProps" Target="/ppt/presProps.xml" Id="R69d4907ab4004155" /><Relationship Type="http://schemas.openxmlformats.org/officeDocument/2006/relationships/viewProps" Target="/ppt/viewProps.xml" Id="Rc5aad1ed6b504df2" /><Relationship Type="http://schemas.openxmlformats.org/officeDocument/2006/relationships/tableStyles" Target="/ppt/tableStyles.xml" Id="Rb84d1362925b43a8" /><Relationship Type="http://schemas.openxmlformats.org/officeDocument/2006/relationships/slide" Target="/ppt/slides/slide1.xml" Id="R7f07e341f75b46c4" /><Relationship Type="http://schemas.openxmlformats.org/officeDocument/2006/relationships/slide" Target="/ppt/slides/slide2.xml" Id="R4edaac5128d24ef3" /><Relationship Type="http://schemas.openxmlformats.org/officeDocument/2006/relationships/slide" Target="/ppt/slides/slide3.xml" Id="R258b3085f0a34188" /><Relationship Type="http://schemas.openxmlformats.org/officeDocument/2006/relationships/slide" Target="/ppt/slides/slide4.xml" Id="R5ac4526d71bb4bb5" /><Relationship Type="http://schemas.openxmlformats.org/officeDocument/2006/relationships/slide" Target="/ppt/slides/slide5.xml" Id="R1c13b455a2ac4f67" /><Relationship Type="http://schemas.openxmlformats.org/officeDocument/2006/relationships/slide" Target="/ppt/slides/slide6.xml" Id="Rf6df985b76754821" /><Relationship Type="http://schemas.openxmlformats.org/officeDocument/2006/relationships/slide" Target="/ppt/slides/slide7.xml" Id="R7a33d0ee52a14f9b" /><Relationship Type="http://schemas.openxmlformats.org/officeDocument/2006/relationships/slide" Target="/ppt/slides/slide8.xml" Id="R64bebacff7a54720" /><Relationship Type="http://schemas.openxmlformats.org/officeDocument/2006/relationships/slide" Target="/ppt/slides/slide9.xml" Id="Rf2bbe02eeb814c43" /><Relationship Type="http://schemas.openxmlformats.org/officeDocument/2006/relationships/slide" Target="/ppt/slides/slide10.xml" Id="Ra3a3a286180344b4" /><Relationship Type="http://schemas.openxmlformats.org/officeDocument/2006/relationships/slide" Target="/ppt/slides/slide11.xml" Id="Re4cef7f0b88d4efe" /><Relationship Type="http://schemas.openxmlformats.org/officeDocument/2006/relationships/slide" Target="/ppt/slides/slide12.xml" Id="Rae0a89e2f627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41434827be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83e1d6d3f4028" /><Relationship Type="http://schemas.openxmlformats.org/officeDocument/2006/relationships/notesMaster" Target="/ppt/notesMasters/notesMaster1.xml" Id="Rb9b9d6d60099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d23edfae9348bb" /><Relationship Type="http://schemas.openxmlformats.org/officeDocument/2006/relationships/notesMaster" Target="/ppt/notesMasters/notesMaster1.xml" Id="Rf028b2532190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55508d5fe44c63" /><Relationship Type="http://schemas.openxmlformats.org/officeDocument/2006/relationships/notesMaster" Target="/ppt/notesMasters/notesMaster1.xml" Id="R05310a15d383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3ec4085afc4771" /><Relationship Type="http://schemas.openxmlformats.org/officeDocument/2006/relationships/notesMaster" Target="/ppt/notesMasters/notesMaster1.xml" Id="R3053468a3e82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b88133e6504065" /><Relationship Type="http://schemas.openxmlformats.org/officeDocument/2006/relationships/notesMaster" Target="/ppt/notesMasters/notesMaster1.xml" Id="R0bbd30949b3849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882da414f94823" /><Relationship Type="http://schemas.openxmlformats.org/officeDocument/2006/relationships/notesMaster" Target="/ppt/notesMasters/notesMaster1.xml" Id="R00e324ba4d1640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b8c636b86f44a2" /><Relationship Type="http://schemas.openxmlformats.org/officeDocument/2006/relationships/notesMaster" Target="/ppt/notesMasters/notesMaster1.xml" Id="R4c730e66f7f54f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b69f6cb57d46ae" /><Relationship Type="http://schemas.openxmlformats.org/officeDocument/2006/relationships/notesMaster" Target="/ppt/notesMasters/notesMaster1.xml" Id="R73008d69cac64c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1263231af64a3b" /><Relationship Type="http://schemas.openxmlformats.org/officeDocument/2006/relationships/notesMaster" Target="/ppt/notesMasters/notesMaster1.xml" Id="Ra58e45a95b4b49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8c32d8f63d4d85" /><Relationship Type="http://schemas.openxmlformats.org/officeDocument/2006/relationships/notesMaster" Target="/ppt/notesMasters/notesMaster1.xml" Id="R28af7f09a96d4c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e98a30877a48ca" /><Relationship Type="http://schemas.openxmlformats.org/officeDocument/2006/relationships/notesMaster" Target="/ppt/notesMasters/notesMaster1.xml" Id="R994a2b74303741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20f69e031d4f7b" /><Relationship Type="http://schemas.openxmlformats.org/officeDocument/2006/relationships/notesMaster" Target="/ppt/notesMasters/notesMaster1.xml" Id="Rc6004cb71f61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b111a97f7468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4c41f1dbaf4b79" /><Relationship Type="http://schemas.openxmlformats.org/officeDocument/2006/relationships/slideLayout" Target="/ppt/slideLayouts/slideLayout2.xml" Id="Re4d27880aba5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d27880aba5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1b38a3b9b43c5" /><Relationship Type="http://schemas.openxmlformats.org/officeDocument/2006/relationships/image" Target="/ppt/media/image.png" Id="R7445105564f745df" /><Relationship Type="http://schemas.openxmlformats.org/officeDocument/2006/relationships/notesSlide" Target="/ppt/notesSlides/notesSlide1.xml" Id="Rc08ab6c33ef54f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e33ae32b64498" /><Relationship Type="http://schemas.openxmlformats.org/officeDocument/2006/relationships/notesSlide" Target="/ppt/notesSlides/notesSlide2.xml" Id="R2d1b5f752704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392a54c83a4966" /><Relationship Type="http://schemas.openxmlformats.org/officeDocument/2006/relationships/notesSlide" Target="/ppt/notesSlides/notesSlide3.xml" Id="R904f7b288d97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7885a4a1141d2" /><Relationship Type="http://schemas.openxmlformats.org/officeDocument/2006/relationships/notesSlide" Target="/ppt/notesSlides/notesSlide4.xml" Id="R061f225183d048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53fe7ab994470" /><Relationship Type="http://schemas.openxmlformats.org/officeDocument/2006/relationships/notesSlide" Target="/ppt/notesSlides/notesSlide5.xml" Id="R7d8aab57609b4b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17143739740ed" /><Relationship Type="http://schemas.openxmlformats.org/officeDocument/2006/relationships/notesSlide" Target="/ppt/notesSlides/notesSlide6.xml" Id="Rb049598c5b52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ec0e243e44fe4" /><Relationship Type="http://schemas.openxmlformats.org/officeDocument/2006/relationships/notesSlide" Target="/ppt/notesSlides/notesSlide7.xml" Id="R23c99583bdac4b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51f4451504903" /><Relationship Type="http://schemas.openxmlformats.org/officeDocument/2006/relationships/notesSlide" Target="/ppt/notesSlides/notesSlide8.xml" Id="Rf4a90160856748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b6d6fdb5d043fa" /><Relationship Type="http://schemas.openxmlformats.org/officeDocument/2006/relationships/notesSlide" Target="/ppt/notesSlides/notesSlide9.xml" Id="R0073db5e328846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a9ae01f8514f1b" /><Relationship Type="http://schemas.openxmlformats.org/officeDocument/2006/relationships/notesSlide" Target="/ppt/notesSlides/notesSlide10.xml" Id="R2b34e4441e384a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53195513646f2" /><Relationship Type="http://schemas.openxmlformats.org/officeDocument/2006/relationships/notesSlide" Target="/ppt/notesSlides/notesSlide11.xml" Id="Rbed9bc81bdbe42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93f6e92904c88" /><Relationship Type="http://schemas.openxmlformats.org/officeDocument/2006/relationships/notesSlide" Target="/ppt/notesSlides/notesSlide12.xml" Id="Rf18a230a0f3b4e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529AA-015B-4A5B-9163-395C002D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2E9E5-470D-4835-B232-9328145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D77D9-34A5-4507-8F94-F8A623BC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D418E-3C6F-4687-A5D5-D4B9F852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2E958-1594-4106-958C-10656FBB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A590F-52AB-4428-B4CB-983F95DA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CA8">
              <a:alpha val="13333"/>
            </a:srgbClr>
          </a:solidFill>
          <a:ln xmlns:a="http://schemas.openxmlformats.org/drawingml/2006/main" w="9525">
            <a:solidFill>
              <a:srgbClr val="FF5CA8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B1575-5093-4857-9AC7-C6CFA59D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Pink 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B3C6D-F9F6-4F61-8460-47CCBE7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Pink Ward App Walkthrough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F865A-C2D5-4AD4-9844-8EB76C4E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Every page in the app, plus the tabs inside an individual project, arranged as a clean guide you can hand to someone new.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FC5B4-931B-4FD2-BD27-67C5D30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9F716-633C-4882-AE43-E0BBE80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571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1A607-8ECA-4D0A-9BF2-346F4A6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Sidebar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EC31D-B563-4BA1-9BD4-0FE4F1C5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Persistent navigation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59B87-2404-448D-B925-F8B7D7E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6DD38-6AF7-4CD6-B44E-4A4C05CB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571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3A64C-E5F6-42E6-A4F7-8D291F6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623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5DFDD-119C-4B6C-A31C-FDFA823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0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Status and shortcuts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A9045-33BA-4E5F-B878-C185F640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2489C-8929-4BA6-A929-37CF6C8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71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9E400-ED0F-476E-A603-B68F564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1CC7D-FA95-4758-9A30-876C60F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Workspace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063CA-B0E4-4035-A774-2648AA3F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1B6E9-7143-4398-B1C0-68C75A8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571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70B06-2C36-4B3D-80E3-B798FABF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386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tabs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A81D1-BF9A-4FEB-84E0-640AA43E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Overview, data, models, training,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67ADF-495D-4407-B94B-D595C7E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763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2145">
              <a:alpha val="75294"/>
            </a:srgbClr>
          </a:solidFill>
          <a:ln xmlns:a="http://schemas.openxmlformats.org/drawingml/2006/main" w="9525">
            <a:solidFill>
              <a:srgbClr val="533868">
                <a:alpha val="50196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45BEB-7F36-4986-BCC5-1ACEE11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B39">
              <a:alpha val="94118"/>
            </a:srgbClr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1CE6F-9BD8-4D60-A42E-D8B652E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86B">
              <a:alpha val="12549"/>
            </a:srgbClr>
          </a:solidFill>
          <a:ln xmlns:a="http://schemas.openxmlformats.org/drawingml/2006/main" w="9525">
            <a:solidFill>
              <a:srgbClr val="FFB86B">
                <a:alpha val="37647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A5F71-01F3-4E5E-86B8-F099CCEB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App walkthrough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3E6E1-5579-4D4C-B737-B68C99E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A page-by-page map of the UI, from the global sidebar to every tab inside an active project.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56C4A-8732-4A37-B51C-5F695F85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page labels and Main/assets/pink-ward-logo-clean.png.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5105564f745df"/>
          <a:stretch xmlns:a="http://schemas.openxmlformats.org/drawingml/2006/main"/>
        </p:blipFill>
        <p:spPr>
          <a:xfrm xmlns:a="http://schemas.openxmlformats.org/drawingml/2006/main">
            <a:off x="7829550" y="1752600"/>
            <a:ext cx="2590800" cy="259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40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ED9941-0DB7-4E44-81EA-6CC0978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6F595-DF61-4131-9FFD-6CB21C4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4983-FE72-4756-A11A-05EB2391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BF264-DE31-4140-A311-7150EE1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F55DC-8539-4D01-A8BD-3E0CCFDE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E5841-BC81-43C7-82B6-FF2D185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5CA8">
              <a:alpha val="12549"/>
            </a:srgbClr>
          </a:solidFill>
          <a:ln xmlns:a="http://schemas.openxmlformats.org/drawingml/2006/main" w="9525">
            <a:solidFill>
              <a:srgbClr val="FF5CA8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575C5-BBC6-43B9-8E69-6FEAC90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Global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3201-556B-40AC-B8BF-AA8BF081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The sidebar sets the app's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FB6FB-1567-4F8B-B7BB-1C1A205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These are the fixed destinations that stay visible while the user moves between home, project management, history, and the active project workspace.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4EF13-02A9-4A35-9C4B-BBBF81C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CE956-E9B0-4E20-A69F-19E3EEE6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Home is the dashboard with live status and quick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C43C2-8C68-415E-8E9C-87EC164F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08E6D-0F69-49E1-ABE3-2645798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Projects opens the full workspace list and a New Project shortcut.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0403D-FB50-4700-9952-53215EC0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6F634-3BF5-4BB8-A494-A8D0B9AF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Inference leads to saved run history and the global import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7EAA8-B7CB-4E56-8EDE-CD474A74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B8FA9-A43F-4B1E-9765-F781808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Active Project is where project-specific tabs live.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AF5A6-C022-45AB-87FF-569FC018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221A9-732E-4FB4-8D89-D5812E3C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6AF93-B32A-4B15-8C53-0BF6BA9F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Sidebar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3DE5E-75F1-4E42-B9B8-9B248932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70283-31E2-461E-AE09-1CC47D25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1485900" cy="46863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CBD89-D0D3-44AA-8F5B-76DE82A8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Pink Ward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C184D-8146-47F6-9F63-9A634B5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478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Routes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3DA19-9B64-4800-9B97-B4E24459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5CA8">
              <a:alpha val="13333"/>
            </a:srgbClr>
          </a:solidFill>
          <a:ln xmlns:a="http://schemas.openxmlformats.org/drawingml/2006/main" w="9525">
            <a:solidFill>
              <a:srgbClr val="FF5C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31B6D-E969-4668-BA63-7779720D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CEFED-00DF-4E12-82D7-37023F5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DB492-C9B6-4130-86A5-584CB687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526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89832-1090-4609-BCD2-8D886F4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A2A50-5284-4512-BC31-7EDCF1EC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62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F54EA2-768A-48EA-900B-876303A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5546F-99FE-45C9-9CBC-EA38C25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All workspaces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D1FC4F-A8B3-443B-85B5-FFE00CA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722204-24D6-4FF1-B296-1E896B7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F0B7B5-4E31-4728-8C69-7278AD6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D518F3-D75A-4417-AD36-6B2B331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Run history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5A664D-979C-44B5-83E6-816864AB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EFF885-6CB9-41B9-8183-EAA6DEA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90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7A7373-7611-4843-900B-5190467E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Active Project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39FB75-038B-43BE-A199-86C204D6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Project workspace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9503DB-27EC-4D52-9760-CB2CC5E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007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21055D-2AD6-49A4-98CE-5A360CE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10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The sidebar keeps the app's working context one click away.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B71428-87CF-4BCF-90D1-4B8A86F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10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5EB4F3-2FA1-446E-904C-ACF847AE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87FAA3-DB31-4A5D-9B03-F255289A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What it routes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B602A4-4770-4AA5-9D4D-96867FDC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Home, Projects, Inference, and Active Project are the four fixed destinations. Everything else hangs off the selected project.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D57564-3751-4127-A1FA-26CE6311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51054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8CCEB9-A752-4F14-8DBF-43E24E47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5715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B70B12-B638-4F21-A990-269951B8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CC385D-61F6-4480-94FC-6E6344C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481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It separates the app into global pages and project-scoped work, which keeps inference, training, and storage from feeling mixed together.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EBDEA7-586F-485B-AD23-17E69A7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sidebar routes and route labels.</a:t>
            </a:r>
          </a:p>
        </p:txBody>
      </p:sp>
    </p:spTree>
    <p:extLst>
      <p:ext uri="{BB962C8B-B14F-4D97-AF65-F5344CB8AC3E}">
        <p14:creationId xmlns:p14="http://schemas.microsoft.com/office/powerpoint/2010/main" val="1993238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FE1F3-EE21-4D09-8E8B-9108C2E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5BCD7-A91A-4440-AD60-189C0776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CBD79-4ED2-465A-8798-2691D368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D4B8B-690B-4814-BEB7-32903C69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4C0F9-DAA5-447D-A933-AA979C5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D3089-D3A2-416D-B3DC-D407A446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86B">
              <a:alpha val="12549"/>
            </a:srgbClr>
          </a:solidFill>
          <a:ln xmlns:a="http://schemas.openxmlformats.org/drawingml/2006/main" w="9525">
            <a:solidFill>
              <a:srgbClr val="FFB86B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90811-03BD-483E-9702-41615A20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Main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24A75-85C7-4563-8F6A-A810AA99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Home is the command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34E9D-4BB9-4083-B91A-8EE69C4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This is the first screen you land on when you want a status snapshot and fast entry points into the rest of the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C4C88-AA92-4F32-87F5-9379EC37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C03E7-32A0-4DFB-8932-C6476C3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Current Inference shows the live run with progress, metadata, and cancel control.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B65E3-F7FB-4974-8941-2EF1BE55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643BF-88F2-43BF-A633-5165EA5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Recent Projects surfaces the latest workspaces without opening the full 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AECDF-B2CA-4EBD-8BD2-1FA87D8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5C60F-C6DD-437A-860A-C637C7E4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Recent Inference keeps the newest outputs and saved runs one click away.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24A39-AAF9-48AD-8DEB-7C3C721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DA053-6FE4-4ACF-978B-D17AFF5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New Project launches the creation flow from the dashboard itself.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103C7-51D3-43E0-85EA-2D8E70D4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EC631-AEF0-48D9-A484-D3FCF72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4F1A8-5E59-4460-BB3C-A9AA902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4FEF8-7746-4820-9E72-161406A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663B6-52A3-4EF4-9D08-B7B01989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07E7D-4BA3-4E93-9B33-BEBB37E4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12C09-D954-4608-9CFA-4295CCDE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906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Current Inference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800CA-A234-437D-B7B8-42492D3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Live progress, queue state, and a cancel button.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1E545-0DBE-4243-95A6-A453B32D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573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D0E96-70B8-4231-8F06-CCB7DD3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573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2F1E65-90F5-49DC-849B-5895278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906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Recent Projects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9B232-E68D-454A-BEB3-0D5C480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Jump back into the latest workspaces.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B68F6-1CF6-4683-857B-8D9F9B8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5ED13-3341-4DFB-AF6C-B05CBA5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32A36-9BAF-402F-868C-71FA3B25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Recent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329FA-3495-462C-8541-71BE74D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Review the latest saved runs and outputs.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6F1E72-F772-4B43-B6FE-EFC7BD4A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BB003F-321A-4B0A-83C3-7A73E5D3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8D89D-FBFC-47DA-8BFC-13C0EF42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New Project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77DB14-C9BF-4E04-B0AB-53858C9E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Create a project and choose the task type.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497BF7-13DB-47A5-95C8-EB1A1665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Home page blocks around Current Inference, Recent Projects, Recent Inference, and New Project.</a:t>
            </a:r>
          </a:p>
        </p:txBody>
      </p:sp>
    </p:spTree>
    <p:extLst>
      <p:ext uri="{BB962C8B-B14F-4D97-AF65-F5344CB8AC3E}">
        <p14:creationId xmlns:p14="http://schemas.microsoft.com/office/powerpoint/2010/main" val="10774008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D33DF-37EC-4816-8102-AFD3B94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CB7E4-F83A-4595-810E-8BE648D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7657A-168A-4E47-A9D5-C4C417F7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9C67A-F69A-4136-8FD2-40BCAEC1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59294-FD91-43AC-847F-6C5C8908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9336F-0265-4C54-90C5-6F3A31CC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485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EE3D0">
              <a:alpha val="12549"/>
            </a:srgbClr>
          </a:solidFill>
          <a:ln xmlns:a="http://schemas.openxmlformats.org/drawingml/2006/main" w="9525">
            <a:solidFill>
              <a:srgbClr val="7EE3D0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66198-A15B-4817-BB49-6910902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5463E-9198-4D21-80A0-D39FFBEE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New Project starts the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2CE39-4ED0-4A9A-AA4A-8C6A684C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The app asks for the project basics up front so data import, inference, and training all have a place to land 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71642-DE3B-484D-8D1F-D78E6059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B97C7-EA4B-4B97-9661-5D58404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name and task type define the workspace identity.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3F9B6-12CC-4374-8C92-0D14FB2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054FB-2DAB-4FC3-A653-BFB208E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Notes give a lightweight place to capture setup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3777F-67B3-4911-AF22-9F5981D2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676F3-C43B-43CE-A390-95F5C56F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checklist explains what happens immediately after creation.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0EF9B-6405-46D5-97A7-8DCFA929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DE512-2F61-4EC1-9BCB-5304E17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 data can be imported after the project exists.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157C6-4A99-4E90-908F-76DBE401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5A9B3-6848-4968-A20D-5E46C9E0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98AEA-7B58-47E1-802C-9450EBA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New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6A812-92E2-41A2-9D42-F361153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3F422-E89D-4ACD-9344-D390B686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3905250" cy="46863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1A60F-CDA5-43B6-8E16-1AC26EC2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57300"/>
            <a:ext cx="3162300" cy="4686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DE898-E221-4E06-B827-6AA8C903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Setup 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4AD7D-D5F0-40A0-ABB4-B7CEB9D3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3562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Project 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93AFF-AAD7-42B2-AA48-C3DED2FF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562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A73CF-0767-4D5A-BD05-0773116F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90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Example: reef-counting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B2AED-CB1E-4DBD-86ED-168853E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562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Project 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E850D5-2178-4210-82E0-0B3B73EA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562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AE146F-CE9E-435C-AEFA-AAE4511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384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Detection / tracking / classification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00687-76FE-4F80-8E8B-6957F97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562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70382-2FF7-43A6-B2F8-C07C73F7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562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62B7B-DAD6-4E87-99CF-0C6EF7C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Capture scope, data source, or launch details here.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5EEFF2-85A4-4C71-8927-16EE939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097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Project checklist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3D7F27-1DAB-4DEF-AE2A-22C21CBD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281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A03A09-A7B1-4573-969F-AC79ABBD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EABD4-0CBD-47EA-A76D-BD1A0435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669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 data can be imported after creation.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321956-8034-43A3-8B38-FD431387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1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38814A-87D9-41F2-96A3-261BEFF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88BFB-0AAE-4B07-ACEA-13566EA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384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Inference inputs can be organized once a project exists.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64BBD-986A-4E1D-9E30-F72DF40F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1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C5CBAD-407D-4D0C-BBC8-384C236B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C951C4-1DDE-4101-9A4F-1293F8E7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Models and storage will appear inside the project tabs.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C4FF4E-02E5-4543-A35E-AED22C9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New Project page and Project Checklist text.</a:t>
            </a:r>
          </a:p>
        </p:txBody>
      </p:sp>
    </p:spTree>
    <p:extLst>
      <p:ext uri="{BB962C8B-B14F-4D97-AF65-F5344CB8AC3E}">
        <p14:creationId xmlns:p14="http://schemas.microsoft.com/office/powerpoint/2010/main" val="78311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2E34F6-0E04-43D1-9FA8-C57D7F91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11684-BB70-45DE-BF55-1EE6C10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C92B4-D10D-43F0-A4C1-F418613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36236-8018-4E6A-B774-A17C6032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8A09C-EC2D-4DB2-B41A-AB606497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7BD79-D789-404E-B1F5-D55430B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5CA8">
              <a:alpha val="12549"/>
            </a:srgbClr>
          </a:solidFill>
          <a:ln xmlns:a="http://schemas.openxmlformats.org/drawingml/2006/main" w="9525">
            <a:solidFill>
              <a:srgbClr val="FF5CA8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F41D7-0340-4C2B-AC31-1989B35D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Workspace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0DAE3-374B-4FD0-9DDC-C72078F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Projects is the full workspace index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B2EB6-B66A-4502-851B-40F73512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Use this page when you want the complete list of projects instead of the few most recent ones shown on Home.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B8B2C-21DD-49D4-9D2E-0E5FB19C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F539-AA69-4D30-8906-97FAFBD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All projects are shown together in one browsing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39DB5-ED58-4EF8-A803-7F9EDE9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8E816-A713-40DE-8CD4-8F1F3819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New Project button is still available from this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D3012-2F8C-491B-AD98-9E534B3B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C7859-C543-45DE-8E26-145E8DE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Each project card is a gateway into the active project workspace.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DD821-52C4-4D0B-A3D5-81ACE561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BB5B0-7BFE-4AED-A13B-D693505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This page helps you switch between workspaces without leaving the app.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04515-19B4-4709-AFAE-D1E6BCF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66CFD-73DD-4AF1-ACDA-9A9618DC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717EE-A52B-4CF6-8151-02AA32A4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583DF-599F-42C8-B762-751B96FF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EC703-1C03-4E9E-8CE4-8E6735F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192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All projects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8F3F7-D6F8-4E80-80AA-226AA98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70809-8E07-4032-A5EE-C919501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620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D4F96-F5DE-4C34-A61F-7308239F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620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Alpha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C40B4-9D7B-41FD-B88F-1F8F0DF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5 training batches, 3 models, 2 inference runs.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73AE3-761C-4543-A1BB-2988A2F7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22C23-F273-4591-9B6E-AD73DB3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59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9911B-9F31-48A7-AFBD-2708265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859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Beta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886BC-4AD8-41A6-8BD4-084B56A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Recent import work and model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F13BB-DED4-4C8B-8C67-269F50B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EB3213-9B31-46E5-949E-50B8ED1E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98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726718-547A-4073-85B3-5D4E8645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98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Gamma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A3D671-AB5F-48AA-9078-29781D54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Training-focused project with stored data.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3D451-D62B-4CD8-B558-E849DC20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D201E9-0424-43F8-B1B5-258FBFE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337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A085B1-BC71-4565-A0B8-064E11A0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337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New Project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71C067-E82C-48A3-B33E-CE867529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Create another workspace from this page.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CBA61-045C-4BE3-95CD-840398E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All Projects page heading and button label.</a:t>
            </a:r>
          </a:p>
        </p:txBody>
      </p:sp>
    </p:spTree>
    <p:extLst>
      <p:ext uri="{BB962C8B-B14F-4D97-AF65-F5344CB8AC3E}">
        <p14:creationId xmlns:p14="http://schemas.microsoft.com/office/powerpoint/2010/main" val="6293674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4734A-D6C4-441F-A8B3-FE96DAB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AE1A7-00D0-4D9B-B74D-C0BEA363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72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AF4FA-C243-4695-AF9A-9438B22E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E5326-B972-451A-B3C7-859999D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91511-20C4-49F2-ACCD-FFD3FB41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AF987-F7C7-4129-8789-95FC9039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272">
              <a:alpha val="12549"/>
            </a:srgbClr>
          </a:solidFill>
          <a:ln xmlns:a="http://schemas.openxmlformats.org/drawingml/2006/main" w="9525">
            <a:solidFill>
              <a:srgbClr val="FF7272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177D-461E-4D6E-8D97-7865A83D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Global inference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3DBD6-DA71-406C-9C1E-AB07491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Inference is the saved run history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FC510-186E-440A-9869-37C4D94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This page pulls inference outputs into one queue so you can review, reopen, or clear old runs from anywhere in the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EAEE3-EDE6-46CE-8CB7-6222E723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F27B9-BB12-4D80-A77D-D200B8DE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Inference History is the main list of saved runs.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90039-C806-441B-BB98-DF239D6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7FBDE-2CEF-44D6-B6A5-AF386D31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Start Infrence launches the global import-and-run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AFF0D-952E-4C79-809D-900D1E0A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92E92-55BC-47B5-8FFD-22B9695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Clear History removes the saved inference list.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76AD0-0BD6-4DD0-BEF1-CEACB86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2ACD7-B92C-464D-88A0-441821D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page is for review and replay, not just launching new runs.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A7413-0493-4F1E-A2E5-F0CAB493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E05D9-FCA7-4122-AE69-8B5FED1D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00E34-3299-4659-BD5C-885D7469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DFE37-659A-4ED7-9B17-4852FA9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3E52A-1C51-4FA5-B991-16A0910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192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Inference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1175B-6A43-4F08-9D6D-1FE95B87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A60B7-D6EE-4B16-9F7B-A0E77919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620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F7F0B-5CB9-4C5C-B360-81FD887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620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Run 014 - saved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C961F-3320-4A29-B141-CBD7544D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Model A, image batch, confidence 0.25.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B75DA-BFAD-4F04-9411-E3BD532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53107-7F71-4245-86BF-316B28B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59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3F0F-3EE4-424A-9D1E-8A998FE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859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Run 013 - project import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5D170D-5453-4998-ACF6-8317146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Video batch processed from the project flow.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93814-A3B9-45AF-83D1-9446B46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2E169-3A75-45B9-A8D2-2C1477CD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98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F4280-40C7-49D5-8F1A-3EA53E0E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98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Run 012 - review 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FB7148-FAAE-4436-98FC-3216D8AB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Opened from history for inspection.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3F8DFC-D53D-47E7-83D3-D779717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Inference History page, Start Infrence button, and Clear History button.</a:t>
            </a:r>
          </a:p>
        </p:txBody>
      </p:sp>
    </p:spTree>
    <p:extLst>
      <p:ext uri="{BB962C8B-B14F-4D97-AF65-F5344CB8AC3E}">
        <p14:creationId xmlns:p14="http://schemas.microsoft.com/office/powerpoint/2010/main" val="4789077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5D81E-FF5D-40BB-B9A5-BB593CA4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61E44-DF78-4989-8FD8-890430B8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A3B21-226B-4895-A367-F1B5C899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9371B-5ADB-4F9B-A162-0E468A39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8E253-6A5D-4581-952D-B95BECD8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05767-EC90-4BDB-B13E-DB0B5F6B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5CA8">
              <a:alpha val="12549"/>
            </a:srgbClr>
          </a:solidFill>
          <a:ln xmlns:a="http://schemas.openxmlformats.org/drawingml/2006/main" w="9525">
            <a:solidFill>
              <a:srgbClr val="FF5CA8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77DA6-2B0A-42DF-A8E3-FC769601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A9142-5CFB-4F27-91AF-825701F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Active Project is the project-scoped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05029-F728-4C13-8BB7-F66671BF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Once you open a project, the tab row splits the workspace into overview, data, models, training, inference, and storage.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6CA2E-8C9E-4B11-A44C-D06E6EB2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F1C0E-24F7-4BDF-AD7F-F877270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Overview summarizes the current model state and pinned checkpoints.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97830-3CBE-44CE-9E48-0035AEE4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47EE7-69A3-444F-A61E-1FAEB9E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tab row is the key navigation inside a single project.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8859E-AB8A-4CC1-8009-58DA4BC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B35E7-CE38-4E02-85D9-89209181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This is where project-specific work stays separated from global pages.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223CB-AD14-4583-8C08-9F7487AF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51E2C-7665-4F5B-B5B3-98AB125D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Every tab in the project shares the same project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5AF69-264B-44C0-80F9-CFB6427E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55CC-C451-44F4-AF44-310DA8E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7B0BC-0FD1-4C28-8CBB-4CCBB227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Active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B7A6A-0BCB-4569-AD80-AB26196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08254-184B-41D5-9AA5-83E96F22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72390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DFC0C-8C89-4F29-B876-134F82B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716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5CA8">
              <a:alpha val="12157"/>
            </a:srgbClr>
          </a:solidFill>
          <a:ln xmlns:a="http://schemas.openxmlformats.org/drawingml/2006/main" w="9525">
            <a:solidFill>
              <a:srgbClr val="FF5C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74174-1A81-4A67-A26D-99DAE26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00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82C6D-1247-465D-B568-4D7EFBB4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3716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81C79-17E0-4170-8B41-8E64C360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400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Infrence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CFD5B-834E-41F7-9188-BC207FA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716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20441-3937-4371-85A2-3094B21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00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E457E-7DF3-4E1E-B5B3-BC324B53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716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3C2C4-F44B-4021-A69D-A82BEBC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00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F317E-BF81-407C-B75B-CAF68379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716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EB6F1-9F55-4AD3-842F-07DE2EFB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00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8BF5E-B6C2-4C6A-8061-8E08930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3716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879FA-3213-465D-9232-F3EE3664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400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F16261-FEDE-4A5B-85F8-B9D0DC7B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689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Model snapshot and pinned checkpoints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B4692E-DFF9-49C8-9F03-A783FCD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3371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BD03F9-1C34-4ED9-AECC-F0E8C2F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7DF27E-3C46-4FB0-A721-D228AC96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Most Recent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5C349B-B42A-488D-863B-359132B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3086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Latest checkpoint with metrics like mAP, precision, recall, and losses.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529FEE-6190-4FA1-A3E3-914BE74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71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998E7E-92BB-4837-8F5B-EF9F369F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02FF72-0099-4CE9-BDE0-F411EF5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Pinned Model 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7701B7-DAF3-4433-B847-64E2505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086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A selected checkpoint kept ready for comparison or reuse.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9CC56F-4285-4DCD-8A36-4AC83169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3371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275A07-2159-4D1E-97AB-8240156F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3593CF-8AB8-410C-A601-1A6C0A7C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Pinned Model 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1554CF-237C-40D2-BA7A-FA615DD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24300"/>
            <a:ext cx="3086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Second pinned checkpoint for side-by-side reference.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487C88-957D-4B13-9D93-E24E58B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371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53C626-7341-435C-A61B-8EF3CE8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E31F23-4D4B-45A9-8FC9-368EDA8A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summary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19D23D-11CF-4F15-A709-5B3CE01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3086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Everything here belongs to the active project only.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3B91FA-F3A9-42AB-B845-F953712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Active Project tab row and overview cards.</a:t>
            </a:r>
          </a:p>
        </p:txBody>
      </p:sp>
    </p:spTree>
    <p:extLst>
      <p:ext uri="{BB962C8B-B14F-4D97-AF65-F5344CB8AC3E}">
        <p14:creationId xmlns:p14="http://schemas.microsoft.com/office/powerpoint/2010/main" val="1111361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0237E-D7F9-489C-B365-F74CD37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8398D-CD11-4C6C-908B-6BB3229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186D3-A595-46F3-945B-9925B6C3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F52E6-B7AE-43CE-B5B6-CF4BA46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9E6C5-774B-424A-80F6-4D04659B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FE6B9-0114-426B-9D7C-49B12A16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EE3D0">
              <a:alpha val="12549"/>
            </a:srgbClr>
          </a:solidFill>
          <a:ln xmlns:a="http://schemas.openxmlformats.org/drawingml/2006/main" w="9525">
            <a:solidFill>
              <a:srgbClr val="7EE3D0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C43CA-C859-46DD-88A4-F67FDF9E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tab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7F44F-1970-4FE3-8E1A-51B2FD48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Data is where project files are sorted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8FE82-EE0E-4936-A7C6-EB17373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This tab separates training batches, inference-derived files, and unlabeled source media so the project can stay organized over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65116-834E-44C8-9D5E-8A8E321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15F49-C7AD-4B95-9A24-021D971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 is the curated batch collection for model fitting.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3AD09-1DF0-417B-89F0-EA0C42A1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89C87-4804-4FDB-88D2-3FFCC331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Extracted from inference stores material pulled out of runs.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88AAA-2C6B-4428-8B7E-E5DE132C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BF0BE-1ED4-4C84-86AF-1D31528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Unlabled Videos and Unlabled Images keep raw media grouped.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FBE92-A028-4601-804D-62363CED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2FAD2-638F-411D-B677-32FA193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split keeps imported data from becoming a single pile.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D5F20-7EA3-4170-9626-73A22E7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A698D-F6DD-4750-90D4-932D7FAE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44FA1-DCE6-47B1-8A71-FFBB4F19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82238-C0DE-49E6-8A0B-5DF95E3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4D99F-C643-4157-BBD7-E207203D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A5112-F1ED-4AF9-9C42-72B07536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4BD32-12B7-4BFE-9BF6-A1900E20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906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1CEF0-8622-4EB4-898C-250EE780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Curated batches ready for model training.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82A6E-1C25-48A4-944F-EDB454B8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573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A22FC-2643-435A-9570-0AF3AA3C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573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8F9B1-42D1-481D-B7B9-D0673AC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906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Extracted from inference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99A01-A5C6-4BF5-A948-836BF93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Files derived from saved inference work.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AD56B-F096-4AFC-8C37-9C9B6B70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AAF6C-1C4C-42C0-8478-27A561ED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675ED-44E0-4BF5-A8EE-DD5053A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Unlabled Videos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AE6BC-28F5-4024-BA12-F0F15967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Raw video batches waiting for labeling.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53A1A6-78A3-48BC-B1CD-AFDA868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3543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FCAC26-CC57-4DA2-A606-7CE9CB09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495236-395E-48C4-A84E-CF2BDD32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Unlabled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E6028-834E-46A1-9556-718ACF6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25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Raw image batches waiting for labeling.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E711B9-630F-473B-B42D-5E9575DE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Data tab sections for Training, Extracted from inference, Unlabled Videos, and Unlabled Images.</a:t>
            </a:r>
          </a:p>
        </p:txBody>
      </p:sp>
    </p:spTree>
    <p:extLst>
      <p:ext uri="{BB962C8B-B14F-4D97-AF65-F5344CB8AC3E}">
        <p14:creationId xmlns:p14="http://schemas.microsoft.com/office/powerpoint/2010/main" val="20627745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8AA7D-2128-44DA-BCED-E031AFE9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CA2E1-2168-407F-A698-25F8605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BE3BF-AEB5-4A09-91F6-233A812C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2E16E-B610-48F5-B0FF-A509CE28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9FB90-2B87-4562-877F-3D73F70B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29C76-5AD4-4A93-8224-AC8CB6E3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86B">
              <a:alpha val="12549"/>
            </a:srgbClr>
          </a:solidFill>
          <a:ln xmlns:a="http://schemas.openxmlformats.org/drawingml/2006/main" w="9525">
            <a:solidFill>
              <a:srgbClr val="FFB86B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5A949-91CF-42F1-A3EE-18F60C64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tab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F3E40-A8FF-4924-85C1-A8D0B4BE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Models stores weights and checkpoints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EC65F-B1CD-4C6A-BE89-C270B3B1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This tab is the project's model shelf: imported weights, trained checkpoints, and the files that can be reused 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1DD7-3DBF-4331-AB47-7A2E080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D2DC1-7644-4C31-B896-D15D765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Model Weights is the main container for project model 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DD2F2-F8D1-420C-913B-FDAF6ED3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68229-9C75-4A3D-B954-FD3BBE6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Trained checkpoints appear here after a real training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76A3E-0453-4FF8-9CE5-3F6903C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FD5C1-DDDD-4259-AA8A-2E03AE5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Imported weights can be reused as the base for new runs.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29733-D752-4BDE-BD71-F2BE4F2A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18AC2-DF0A-468D-8E27-E85BA729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This tab is the handoff between training and inference.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5EAAF-D9A3-4898-954E-2A45566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582EE-D5E1-43D5-89BA-1782569D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E2D6C-EA46-4AB6-8E35-ECB6D5F0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DFEBA-4886-44BA-B9CE-E0E9B3B0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76474-80EA-47CF-88C0-41355A08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192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Model Weights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65889-9807-4C66-BC24-0EF8D56C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FDA4E-30E6-4340-9C7E-D9DD1D1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620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96E15-D22F-4C07-AAD7-3A0D7249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620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best.pt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CDF94-D51A-4240-87EB-03AF0543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Pinned checkpoint, ready for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85E3F-3A23-4FF7-8B52-7727039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FB8BB-F003-4FC9-8A46-BA852C5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59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A749E-87D5-40C7-9F15-DCD79A2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859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epoch-24.pt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F9EF6-3BB9-4265-9F35-1ED54C6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Training output with validation metrics.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290A4-DA58-4208-BDBF-8D2547C7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25C29-8888-4E49-9CA8-3AE90606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9875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96E4D-D714-4FE7-9B5E-594201E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98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Imported weights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426C6-CCB4-4306-83CE-38BB7512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Base weights brought into the project.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B414A9-9345-424E-8DF8-CC356D0F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Model Weights section and empty-state text for trained checkpoints.</a:t>
            </a:r>
          </a:p>
        </p:txBody>
      </p:sp>
    </p:spTree>
    <p:extLst>
      <p:ext uri="{BB962C8B-B14F-4D97-AF65-F5344CB8AC3E}">
        <p14:creationId xmlns:p14="http://schemas.microsoft.com/office/powerpoint/2010/main" val="8685537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F0502-F3CA-4F3E-8B6C-D4E636F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6828A-024A-4106-B1F7-0564418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91F99-ECFF-457A-8138-7D6A2A37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02929-5165-4C4D-9AAE-6570C6CA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FB086-EB37-42CD-A506-B484D16D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6F552-910E-4AE9-A61E-B4B6C807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7F3D0">
              <a:alpha val="12549"/>
            </a:srgbClr>
          </a:solidFill>
          <a:ln xmlns:a="http://schemas.openxmlformats.org/drawingml/2006/main" w="9525">
            <a:solidFill>
              <a:srgbClr val="A7F3D0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40AF3-0E7C-43F9-A696-A7F8E5C8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tab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26227-EE1E-4108-AEC4-4D805ACC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Training walks through selection and hyperparameters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8E0F-2CF1-45F7-98EC-70912A7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The training tab is more of a guided flow than a single form: choose data, confirm settings, then start the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B5CDE-FACE-4F01-B867-B0D9504E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E3139-8B85-420E-BC25-33F88F61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 Setup is the control panel for the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3694A-2FD5-46D7-929C-D0808A6D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6F473-22FA-45CF-B141-6B1320A5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Select training data first, then refine the hyperparameters.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5E1FC-48EC-4DB5-AADD-BE09D6E2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D69BB-9566-459B-A237-FB661F13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Train button starts the job once the setup is valid.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ED31D-EE23-4C4A-8438-5801BF9E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3145E-574F-49BC-B033-D3B301EF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This tab is where data turns into a new model.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C2913-5654-4871-A203-242E096A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0730E-3F95-4053-B010-7DC14C6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55CCD-2971-4F40-A7A2-81F0FE7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AEA39-7786-41BC-BC7A-259CCE9F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1EC33-740F-483C-9B77-0CF6DCF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723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44766-D3DC-4EEE-AB87-3DAE8A9E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DF1B1-C64E-4A9F-BD75-0321AF7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0B1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20B18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50F2F-7F72-4D0F-9B2E-5D0B670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09700"/>
            <a:ext cx="636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Choose training batches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2C7F6-5C30-44B4-8F2D-777EF4A5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28775"/>
            <a:ext cx="636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Select the project batches that should feed the run.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5FF3A-6C2D-45AE-9585-2EDFD248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723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694BC-257D-4BE5-BE50-60288C6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2758A-C3A7-4203-8F7C-44B9D047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0B1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20B18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9FE15-090D-4E49-B2A0-8C7EE7C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636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Tune hyperparameters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08E53-EBF1-42C9-9502-2ADB8939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57475"/>
            <a:ext cx="636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Adjust learning and run settings before you launch.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2726D0-EE6B-4EA0-9F0F-F7FC2AD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723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20AC00-BD25-4797-BC7E-4566ADA3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CDE42C-E0A8-4082-A215-D9C0563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04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0B1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20B18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9620F-2717-4009-A026-1F16BBC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67100"/>
            <a:ext cx="636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Start training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267362-B640-4F5B-97AC-AAAD429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86175"/>
            <a:ext cx="636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The run executes and produces new model weights.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FDF6E-7702-47B3-AD06-C647849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Training Setup, training data selection dialog, hyperparameters dialog, and Train button.</a:t>
            </a:r>
          </a:p>
        </p:txBody>
      </p:sp>
    </p:spTree>
    <p:extLst>
      <p:ext uri="{BB962C8B-B14F-4D97-AF65-F5344CB8AC3E}">
        <p14:creationId xmlns:p14="http://schemas.microsoft.com/office/powerpoint/2010/main" val="17940877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7EE29C-D32F-4B91-811E-47D557B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B6C69-6D02-4C27-B460-1601FCA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72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8B88-8394-4EA1-AB8C-51E4D10A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1853-0DCB-4345-8BB9-A2492A9E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39196-D9B6-4B73-B744-53ECA88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43AE1-C704-4283-9E11-780E320C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272">
              <a:alpha val="12549"/>
            </a:srgbClr>
          </a:solidFill>
          <a:ln xmlns:a="http://schemas.openxmlformats.org/drawingml/2006/main" w="9525">
            <a:solidFill>
              <a:srgbClr val="FF7272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81372-BD8C-4C65-93CB-AF44F1AC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tab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6FFBF-83F6-4B37-8B14-AD545FFA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Infrence starts a run inside the active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7D6C6-FF0F-446B-B8E7-B38DD032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This tab is the project-local version of inference, built for importing source media and starting a run in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01214-3563-478D-9B57-EBF5A80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7DE0F-89C0-4098-82B1-4E5F032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Start Infrence in This Project launches the local import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605EF-C061-48F5-9780-452DB93E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BB52F-466F-49C9-BBEE-BD2EB9EC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Stored Infrence Data keeps the project's saved run input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44FD4-7B8C-4C1E-94DC-65A045F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D0AF7-0A55-4300-BA46-162C8FA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This is the quickest route from project media to a new inference run.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C94B1-1225-4952-95BD-1BF45DF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44288-ECCB-4CAF-9391-219E14C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The tab keeps imported source files tied to the current project.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2C885-CCA8-4588-8DDD-9C5D4CE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5D1D2-5423-4F0F-A181-1F5F162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E812F-E3F0-48B1-80B5-EC7B8E3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Infrence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29405-5E33-48BD-839E-E90F0B35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3E66A-7435-4FAA-9B5A-1031FE0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3905250" cy="46863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8348F-4B9F-46B9-AB46-7702D02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57300"/>
            <a:ext cx="3162300" cy="4686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0FDA4-CC35-452A-9AC3-9F1E7481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Setup 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CCC70-7E78-4252-918B-1A0170A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3562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Batch 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D5E862-4F81-4EB3-B1DD-03F1FE9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562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49659-FA47-40A7-9D00-309D325B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90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Name this inference 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4382B-125F-425A-9DD6-E35F552F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562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43CFC-8D30-4E26-A87A-30649178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562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B2353A-51B5-4B76-9F36-2CF73953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384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Current active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B0558-27D4-4318-86A6-BA8BA7D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562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78737-7F7A-4537-B245-D9FCBBC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562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EB691-5779-4083-97DC-B11D2B24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Pick an imported or trained weights file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5BA6A5-EFF4-4863-A903-02F44A89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097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Project checklist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24264-1C34-4425-9A29-B51B123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281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696AD7-B4E1-44C6-B298-040C1F0C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425058-FE28-4AC1-96B8-32ED25B0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669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Import files from a folder or from multiple files.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47FA87-47AD-4A96-AEA5-D633930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1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A12E8C-E86A-48D1-ABEF-361C2ED2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370AC7-5806-4886-834D-DE3C9B1C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384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Set confidence and run type before launch.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FBCC89-B11C-4545-B1CD-425DBB1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1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A67B65-F0E4-4774-92CD-FD5732F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2266D6-821B-4026-BA22-B3D807D7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Stored inference data remains available for review.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395E66-CCDE-44C6-9513-FFF8B76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Start Infrence in This Project button and Stored Infrence Data section.</a:t>
            </a:r>
          </a:p>
        </p:txBody>
      </p:sp>
    </p:spTree>
    <p:extLst>
      <p:ext uri="{BB962C8B-B14F-4D97-AF65-F5344CB8AC3E}">
        <p14:creationId xmlns:p14="http://schemas.microsoft.com/office/powerpoint/2010/main" val="16838908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77855-D5DE-4BD8-A1A3-46DFB41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F3E45-D81B-4FB8-8440-FAA30471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49453-E89D-4D14-BE4A-F792A8FB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6AD4B-9FE1-42F1-91C1-782F3A15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3D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A5AED-D701-436D-B48E-F0EB0453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1D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7C330-FEFF-43AE-A2A5-11AF037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5CA8">
              <a:alpha val="12549"/>
            </a:srgbClr>
          </a:solidFill>
          <a:ln xmlns:a="http://schemas.openxmlformats.org/drawingml/2006/main" w="9525">
            <a:solidFill>
              <a:srgbClr val="FF5CA8">
                <a:alpha val="3764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8419E-607A-47BE-A787-CB9CD8F6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Project tab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80230-E93D-4003-823C-660F8BCC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8EFFA"/>
                </a:solidFill>
                <a:latin typeface="Bahnschrift"/>
                <a:ea typeface="Bahnschrift"/>
                <a:cs typeface="Bahnschrift"/>
              </a:rPr>
              <a:t>Storage and Trash show the project's file footprint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1D7B5-FD5C-4B9E-8E05-9E3B69A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This tab makes storage visible by category and gives deleted files a holding area before permanent removal.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0250A-31A4-44B5-ADC3-C1EA5E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68754-B49E-46A3-BD17-642D2C74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Totals are broken out by inference, training, and extracted inference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F1B6C-A9CC-4447-B870-69A74718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F371A-7B1B-492F-8784-391EBF0F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Trash Storage is the safety net before permanent deletion.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1876C-3E71-4915-AF90-79488391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C4558-46F1-4B37-BA6C-6F206DB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Recovered files can be restored from the trash area.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5E7D9-2661-4D8A-A4B1-AA42A279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61B8F-88C4-49C9-A5CD-2C75BDC2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EFFA"/>
                </a:solidFill>
                <a:latin typeface="Aptos"/>
                <a:ea typeface="Aptos"/>
                <a:cs typeface="Aptos"/>
              </a:rPr>
              <a:t>It is the cleanup and space-management tab for the project.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A96EE-E1F3-4C4C-AA44-5E8A5D4F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7543800" cy="535305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21152D"/>
          </a:solidFill>
          <a:ln xmlns:a="http://schemas.openxmlformats.org/drawingml/2006/main" w="11430">
            <a:solidFill>
              <a:srgbClr val="5338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439BD-5CBF-40C2-AB6E-0FE703F0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2475"/>
            <a:ext cx="752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6183A-8880-4E00-9E3B-C2F959DE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286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378D1-AC81-45CB-957A-3F3355D7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BB294-AD83-4A42-BE88-50837CA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23526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54110-C632-4DDD-99EF-5FA3E6F8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5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51D14-F856-49B6-B96D-32F41D10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90650"/>
            <a:ext cx="2066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9A5C0-CD99-43BB-8199-07FF38C9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2066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0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20939-F5EE-48EC-9D10-81BACE2B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23526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FA00E-773F-4F4C-8464-2C972BC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76E72-7EAB-4170-9BA9-2B5A019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90650"/>
            <a:ext cx="2066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C8E9FC-593A-49FB-90FC-3B5F91D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38300"/>
            <a:ext cx="2066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0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6FADE-B502-40DE-A198-30B4B635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23526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48D56-E9D4-4F0F-8F92-7608ED3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E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DC01B-9C28-469B-A66A-E1B1F28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90650"/>
            <a:ext cx="2066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Extracted From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65793-7496-47FE-8554-527465B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38300"/>
            <a:ext cx="2066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0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8F0443-3E77-4F6A-8ECA-54D1044B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723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3A6D6-C22F-4CB7-B400-A33A1785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47925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50E26C-6CA8-41A2-AC05-F554BC8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479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Trash Storage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892B84-E202-40B8-B55E-9400A1B9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Deleted inference outputs, unlabeled media, and models wait here before removal.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E01D9C-E319-4DB0-B5E2-2299D40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723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42145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D1318D-64B0-4FA0-B664-597CBBBA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95625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97FD9A-7E7C-4D3B-A1A1-4B0D420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Recover / delete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C834C9-9710-43FA-B518-1DC41F06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Files can be restored or permanently removed from the trash list.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B77C4F-4C7E-4CEF-BEFA-19497D64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723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B1B39"/>
          </a:solidFill>
          <a:ln xmlns:a="http://schemas.openxmlformats.org/drawingml/2006/main" w="9525">
            <a:solidFill>
              <a:srgbClr val="5338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73C3F4-95F9-43F5-965F-A01DD24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43325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80AD15-5496-46FF-8528-703674F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433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EF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EFFA"/>
                </a:solidFill>
                <a:latin typeface="Aptos"/>
                <a:ea typeface="Aptos"/>
                <a:cs typeface="Aptos"/>
              </a:rPr>
              <a:t>Storage summary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8F74BF-0908-4E0D-B675-A7913D90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B2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2CD"/>
                </a:solidFill>
                <a:latin typeface="Aptos"/>
                <a:ea typeface="Aptos"/>
                <a:cs typeface="Aptos"/>
              </a:rPr>
              <a:t>The tab makes it obvious where the project's space is going.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17F2C7-9472-4D0B-9166-DD82A247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4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8D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8DAE"/>
                </a:solidFill>
                <a:latin typeface="Aptos"/>
                <a:ea typeface="Aptos"/>
                <a:cs typeface="Aptos"/>
              </a:rPr>
              <a:t>Source: Main/index.html storage totals, Trash Storage, and permanent delete confirmation text.</a:t>
            </a:r>
          </a:p>
        </p:txBody>
      </p:sp>
    </p:spTree>
    <p:extLst>
      <p:ext uri="{BB962C8B-B14F-4D97-AF65-F5344CB8AC3E}">
        <p14:creationId xmlns:p14="http://schemas.microsoft.com/office/powerpoint/2010/main" val="272219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2026-06-02T17:51:19.6220000Z</dcterms:created>
  <dcterms:modified xsi:type="dcterms:W3CDTF">2026-06-02T17:51:19.6220000Z</dcterms:modified>
</coreProperties>
</file>